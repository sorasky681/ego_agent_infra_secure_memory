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a37f28b497454d" /><Relationship Type="http://schemas.openxmlformats.org/officeDocument/2006/relationships/extended-properties" Target="/docProps/app.xml" Id="Re928bf5a37dc42b8" /><Relationship Type="http://schemas.openxmlformats.org/officeDocument/2006/relationships/officeDocument" Target="/ppt/presentation.xml" Id="R2522acef0d7c43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efb17edb724d90"/>
    <p:sldMasterId xmlns:r="http://schemas.openxmlformats.org/officeDocument/2006/relationships" id="2147483650" r:id="R7af7a5158a4d499e"/>
  </p:sldMasterIdLst>
  <p:notesMasterIdLst>
    <p:notesMasterId xmlns:r="http://schemas.openxmlformats.org/officeDocument/2006/relationships" r:id="R708a022b1c48411b"/>
  </p:notesMasterIdLst>
  <p:sldIdLst>
    <p:sldId xmlns:r="http://schemas.openxmlformats.org/officeDocument/2006/relationships" id="256" r:id="Rf4f2fd7dcc954405"/>
    <p:sldId xmlns:r="http://schemas.openxmlformats.org/officeDocument/2006/relationships" id="257" r:id="Rd354fb019a684c27"/>
    <p:sldId xmlns:r="http://schemas.openxmlformats.org/officeDocument/2006/relationships" id="258" r:id="Rb97074b1ad064052"/>
    <p:sldId xmlns:r="http://schemas.openxmlformats.org/officeDocument/2006/relationships" id="259" r:id="R855d94fc46cb44e5"/>
    <p:sldId xmlns:r="http://schemas.openxmlformats.org/officeDocument/2006/relationships" id="260" r:id="R09e2328a509d4def"/>
    <p:sldId xmlns:r="http://schemas.openxmlformats.org/officeDocument/2006/relationships" id="261" r:id="R1cfc8e53d7e64fd6"/>
    <p:sldId xmlns:r="http://schemas.openxmlformats.org/officeDocument/2006/relationships" id="262" r:id="Rec6ca68bf9cf4570"/>
    <p:sldId xmlns:r="http://schemas.openxmlformats.org/officeDocument/2006/relationships" id="263" r:id="R74c25b312bd4431e"/>
    <p:sldId xmlns:r="http://schemas.openxmlformats.org/officeDocument/2006/relationships" id="264" r:id="Rdf0d5f2cb1be4347"/>
    <p:sldId xmlns:r="http://schemas.openxmlformats.org/officeDocument/2006/relationships" id="265" r:id="R89225a08052f404c"/>
    <p:sldId xmlns:r="http://schemas.openxmlformats.org/officeDocument/2006/relationships" id="266" r:id="R8e9db65061f84940"/>
    <p:sldId xmlns:r="http://schemas.openxmlformats.org/officeDocument/2006/relationships" id="267" r:id="R8034afb4d54f4978"/>
    <p:sldId xmlns:r="http://schemas.openxmlformats.org/officeDocument/2006/relationships" id="268" r:id="Rf72241a24cbb4679"/>
    <p:sldId xmlns:r="http://schemas.openxmlformats.org/officeDocument/2006/relationships" id="269" r:id="R3a60c743ac90408b"/>
    <p:sldId xmlns:r="http://schemas.openxmlformats.org/officeDocument/2006/relationships" id="270" r:id="Rb83cf63624aa43ba"/>
    <p:sldId xmlns:r="http://schemas.openxmlformats.org/officeDocument/2006/relationships" id="271" r:id="Raf3b8904c7c84e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2d4c3e0a0148b2" /><Relationship Type="http://schemas.openxmlformats.org/officeDocument/2006/relationships/slideMaster" Target="/ppt/slideMasters/slideMaster1.xml" Id="Rc5efb17edb724d90" /><Relationship Type="http://schemas.openxmlformats.org/officeDocument/2006/relationships/slideMaster" Target="/ppt/slideMasters/slideMaster2.xml" Id="R7af7a5158a4d499e" /><Relationship Type="http://schemas.openxmlformats.org/officeDocument/2006/relationships/notesMaster" Target="/ppt/notesMasters/notesMaster1.xml" Id="R708a022b1c48411b" /><Relationship Type="http://schemas.openxmlformats.org/officeDocument/2006/relationships/presProps" Target="/ppt/presProps.xml" Id="Rf40098f588f342ff" /><Relationship Type="http://schemas.openxmlformats.org/officeDocument/2006/relationships/viewProps" Target="/ppt/viewProps.xml" Id="R6bfe01106bc744dd" /><Relationship Type="http://schemas.openxmlformats.org/officeDocument/2006/relationships/tableStyles" Target="/ppt/tableStyles.xml" Id="R88e9f572c32a4efb" /><Relationship Type="http://schemas.openxmlformats.org/officeDocument/2006/relationships/slide" Target="/ppt/slides/slide1.xml" Id="Rf4f2fd7dcc954405" /><Relationship Type="http://schemas.openxmlformats.org/officeDocument/2006/relationships/slide" Target="/ppt/slides/slide2.xml" Id="Rd354fb019a684c27" /><Relationship Type="http://schemas.openxmlformats.org/officeDocument/2006/relationships/slide" Target="/ppt/slides/slide3.xml" Id="Rb97074b1ad064052" /><Relationship Type="http://schemas.openxmlformats.org/officeDocument/2006/relationships/slide" Target="/ppt/slides/slide4.xml" Id="R855d94fc46cb44e5" /><Relationship Type="http://schemas.openxmlformats.org/officeDocument/2006/relationships/slide" Target="/ppt/slides/slide5.xml" Id="R09e2328a509d4def" /><Relationship Type="http://schemas.openxmlformats.org/officeDocument/2006/relationships/slide" Target="/ppt/slides/slide6.xml" Id="R1cfc8e53d7e64fd6" /><Relationship Type="http://schemas.openxmlformats.org/officeDocument/2006/relationships/slide" Target="/ppt/slides/slide7.xml" Id="Rec6ca68bf9cf4570" /><Relationship Type="http://schemas.openxmlformats.org/officeDocument/2006/relationships/slide" Target="/ppt/slides/slide8.xml" Id="R74c25b312bd4431e" /><Relationship Type="http://schemas.openxmlformats.org/officeDocument/2006/relationships/slide" Target="/ppt/slides/slide9.xml" Id="Rdf0d5f2cb1be4347" /><Relationship Type="http://schemas.openxmlformats.org/officeDocument/2006/relationships/slide" Target="/ppt/slides/slide10.xml" Id="R89225a08052f404c" /><Relationship Type="http://schemas.openxmlformats.org/officeDocument/2006/relationships/slide" Target="/ppt/slides/slide11.xml" Id="R8e9db65061f84940" /><Relationship Type="http://schemas.openxmlformats.org/officeDocument/2006/relationships/slide" Target="/ppt/slides/slide12.xml" Id="R8034afb4d54f4978" /><Relationship Type="http://schemas.openxmlformats.org/officeDocument/2006/relationships/slide" Target="/ppt/slides/slide13.xml" Id="Rf72241a24cbb4679" /><Relationship Type="http://schemas.openxmlformats.org/officeDocument/2006/relationships/slide" Target="/ppt/slides/slide14.xml" Id="R3a60c743ac90408b" /><Relationship Type="http://schemas.openxmlformats.org/officeDocument/2006/relationships/slide" Target="/ppt/slides/slide15.xml" Id="Rb83cf63624aa43ba" /><Relationship Type="http://schemas.openxmlformats.org/officeDocument/2006/relationships/slide" Target="/ppt/slides/slide16.xml" Id="Raf3b8904c7c84e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9c791c7b0beb49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458c9659dd47bc" /><Relationship Type="http://schemas.openxmlformats.org/officeDocument/2006/relationships/notesMaster" Target="/ppt/notesMasters/notesMaster1.xml" Id="R1c5b7edbe5f94e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607bf4a098448a" /><Relationship Type="http://schemas.openxmlformats.org/officeDocument/2006/relationships/notesMaster" Target="/ppt/notesMasters/notesMaster1.xml" Id="R1ce194201bcb4a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2877891d8c456d" /><Relationship Type="http://schemas.openxmlformats.org/officeDocument/2006/relationships/notesMaster" Target="/ppt/notesMasters/notesMaster1.xml" Id="Rd18ff224f45949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e7bea1a17d4e66" /><Relationship Type="http://schemas.openxmlformats.org/officeDocument/2006/relationships/notesMaster" Target="/ppt/notesMasters/notesMaster1.xml" Id="R968b6a9060a843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8a67d4bac34e7d" /><Relationship Type="http://schemas.openxmlformats.org/officeDocument/2006/relationships/notesMaster" Target="/ppt/notesMasters/notesMaster1.xml" Id="R523530e0c17842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a5b85955d54074" /><Relationship Type="http://schemas.openxmlformats.org/officeDocument/2006/relationships/notesMaster" Target="/ppt/notesMasters/notesMaster1.xml" Id="Rce0f836352ee4e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7b2d7958084113" /><Relationship Type="http://schemas.openxmlformats.org/officeDocument/2006/relationships/notesMaster" Target="/ppt/notesMasters/notesMaster1.xml" Id="R1195f8a33f074d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05cb48a7994441" /><Relationship Type="http://schemas.openxmlformats.org/officeDocument/2006/relationships/notesMaster" Target="/ppt/notesMasters/notesMaster1.xml" Id="R5e9713da548b4e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37cbe3402d4880" /><Relationship Type="http://schemas.openxmlformats.org/officeDocument/2006/relationships/notesMaster" Target="/ppt/notesMasters/notesMaster1.xml" Id="Rbe604a423a2648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933f8ada8f4478b" /><Relationship Type="http://schemas.openxmlformats.org/officeDocument/2006/relationships/notesMaster" Target="/ppt/notesMasters/notesMaster1.xml" Id="R3f32ffe62b1842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edd0623d40d4ca4" /><Relationship Type="http://schemas.openxmlformats.org/officeDocument/2006/relationships/notesMaster" Target="/ppt/notesMasters/notesMaster1.xml" Id="R789151a857bf460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e970c6f68034ef9" /><Relationship Type="http://schemas.openxmlformats.org/officeDocument/2006/relationships/notesMaster" Target="/ppt/notesMasters/notesMaster1.xml" Id="R7799b5a6d457409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226c1ede7ca41ff" /><Relationship Type="http://schemas.openxmlformats.org/officeDocument/2006/relationships/notesMaster" Target="/ppt/notesMasters/notesMaster1.xml" Id="Rd4660618a16d445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31fdfdea6bb4dd9" /><Relationship Type="http://schemas.openxmlformats.org/officeDocument/2006/relationships/notesMaster" Target="/ppt/notesMasters/notesMaster1.xml" Id="R5ff0acf3674f4c7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9d151e58b054110" /><Relationship Type="http://schemas.openxmlformats.org/officeDocument/2006/relationships/notesMaster" Target="/ppt/notesMasters/notesMaster1.xml" Id="Ra800a0b87ae143b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c127c814f714d1c" /><Relationship Type="http://schemas.openxmlformats.org/officeDocument/2006/relationships/notesMaster" Target="/ppt/notesMasters/notesMaster1.xml" Id="Ra6ddcca7a99243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submission/screenshots/semifinal-rxp-cockpit.png</a:t>
            </a:r>
          </a:p>
          <a:p xmlns:a="http://schemas.openxmlformats.org/drawingml/2006/main">
            <a:r>
              <a:t>- apps/web/src/App.tsx</a:t>
            </a:r>
          </a:p>
          <a:p xmlns:a="http://schemas.openxmlformats.org/drawingml/2006/main">
            <a:r>
              <a:t>- docs/protocols/RXP.md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20 秒：一句话定义产品；先指出截图是静态 fixture，不是伪装成 live backend。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semifinal judge feedback</a:t>
            </a:r>
          </a:p>
          <a:p xmlns:a="http://schemas.openxmlformats.org/drawingml/2006/main">
            <a:r>
              <a:t>- docs/judge-feedback-implementation.md</a:t>
            </a:r>
          </a:p>
          <a:p xmlns:a="http://schemas.openxmlformats.org/drawingml/2006/main">
            <a:r>
              <a:t>- docs/semifinal-scorecard.md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35 秒：两条评委意见都已落成代码与本地证据；外部 live 项仍明确标记 NOT RUN / UNVERIFIED。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docs/claims-evidence.md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25 秒：说明目标用户、四个可信断点和输入输出闭环。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docs/judge-feedback-implementation.md</a:t>
            </a:r>
          </a:p>
          <a:p xmlns:a="http://schemas.openxmlformats.org/drawingml/2006/main">
            <a:r>
              <a:t>- integrations/agentteams/README.md</a:t>
            </a:r>
          </a:p>
          <a:p xmlns:a="http://schemas.openxmlformats.org/drawingml/2006/main">
            <a:r>
              <a:t>- apps/agentteams_bridge/postgres_store.py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35 秒：协作、实验事实与受控动作共用同一 run_id；PostgreSQL 是 production path，SQLite 只保留 dev fallback。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docs/protocols/RXP.md</a:t>
            </a:r>
          </a:p>
          <a:p xmlns:a="http://schemas.openxmlformats.org/drawingml/2006/main">
            <a:r>
              <a:t>- protocols/rxp/schemas/</a:t>
            </a:r>
          </a:p>
          <a:p xmlns:a="http://schemas.openxmlformats.org/drawingml/2006/main">
            <a:r>
              <a:t>- tests/protocols/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45 秒：重点解释 token 是 exact-cell capability，MatrixLedger 防止选择性漏跑。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apps/agentteams_bridge/</a:t>
            </a:r>
          </a:p>
          <a:p xmlns:a="http://schemas.openxmlformats.org/drawingml/2006/main">
            <a:r>
              <a:t>- integrations/agentteams/benchmark_adapter.py</a:t>
            </a:r>
          </a:p>
          <a:p xmlns:a="http://schemas.openxmlformats.org/drawingml/2006/main">
            <a:r>
              <a:t>- tests/agentteams/</a:t>
            </a:r>
          </a:p>
          <a:p xmlns:a="http://schemas.openxmlformats.org/drawingml/2006/main">
            <a:r>
              <a:t>- docs/agentteams-live-runbook.md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40 秒：展示 PostgreSQL-backed checkpoint、完整 trace 验链与 crash/reassign；没有官方来源证明就不会升级为 live。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docs/security.md</a:t>
            </a:r>
          </a:p>
          <a:p xmlns:a="http://schemas.openxmlformats.org/drawingml/2006/main">
            <a:r>
              <a:t>- protocols/rxp/grants.py</a:t>
            </a:r>
          </a:p>
          <a:p xmlns:a="http://schemas.openxmlformats.org/drawingml/2006/main">
            <a:r>
              <a:t>- tests/protocols/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30 秒：同一 Agent 不能自评自证；一次 grant 只允许一个 cell。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skills/</a:t>
            </a:r>
          </a:p>
          <a:p xmlns:a="http://schemas.openxmlformats.org/drawingml/2006/main">
            <a:r>
              <a:t>- skill_runtime/</a:t>
            </a:r>
          </a:p>
          <a:p xmlns:a="http://schemas.openxmlformats.org/drawingml/2006/main">
            <a:r>
              <a:t>- tests/skills/test_runtime_registry.py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35 秒：现场 list / invoke；再调用 SafeRunner 展示 E_NOT_EXECUTABLE。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protocols/rxp/demo.py</a:t>
            </a:r>
          </a:p>
          <a:p xmlns:a="http://schemas.openxmlformats.org/drawingml/2006/main">
            <a:r>
              <a:t>- protocols/rxp/ledger.py</a:t>
            </a:r>
          </a:p>
          <a:p xmlns:a="http://schemas.openxmlformats.org/drawingml/2006/main">
            <a:r>
              <a:t>- protocols/rxp/evidence.py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35 秒：展示 2/2 完整矩阵和 23-entry ledger；重放同一 token 必须失败。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submission/screenshots/semifinal-rxp-cockpit.png</a:t>
            </a:r>
          </a:p>
          <a:p xmlns:a="http://schemas.openxmlformats.org/drawingml/2006/main">
            <a:r>
              <a:t>- apps/web/src/rxpDemoData.ts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30 秒：在界面中点 baseline / candidate，查看每格 Intent、Grant、Receipt、Decision digest。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benchmarks/corpus/v1/scenarios.json</a:t>
            </a:r>
          </a:p>
          <a:p xmlns:a="http://schemas.openxmlformats.org/drawingml/2006/main">
            <a:r>
              <a:t>- benchmarks/oracle.py</a:t>
            </a:r>
          </a:p>
          <a:p xmlns:a="http://schemas.openxmlformats.org/drawingml/2006/main">
            <a:r>
              <a:t>- benchmarks/trace_verifier.py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30 秒：注入一个 fault；观察 route 或 verdict 改变，不能只看脚本退出码。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submission/verification-report.md</a:t>
            </a:r>
          </a:p>
          <a:p xmlns:a="http://schemas.openxmlformats.org/drawingml/2006/main">
            <a:r>
              <a:t>- docs/evidence/postgres-local-proof-2026-08-29.md</a:t>
            </a:r>
          </a:p>
          <a:p xmlns:a="http://schemas.openxmlformats.org/drawingml/2006/main">
            <a:r>
              <a:t>- benchmarks/artifacts/</a:t>
            </a:r>
          </a:p>
          <a:p xmlns:a="http://schemas.openxmlformats.org/drawingml/2006/main">
            <a:r>
              <a:t>- semifinal_acceptance/README.md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35 秒：默认 209 与独立 PG 27 分开计数；任何 official AgentTeams、GPU 或 PolarDB live 结论都不从本地测试外推。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benchmarks/README.md</a:t>
            </a:r>
          </a:p>
          <a:p xmlns:a="http://schemas.openxmlformats.org/drawingml/2006/main">
            <a:r>
              <a:t>- docs/state-machine.md</a:t>
            </a:r>
          </a:p>
          <a:p xmlns:a="http://schemas.openxmlformats.org/drawingml/2006/main">
            <a:r>
              <a:t>- tests/benchmarks/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35 秒：四类故障都必须有结构化终态、恢复动作和相同 correlation。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apps/api/postgres_store.py</a:t>
            </a:r>
          </a:p>
          <a:p xmlns:a="http://schemas.openxmlformats.org/drawingml/2006/main">
            <a:r>
              <a:t>- apps/api/polardb_preflight.py</a:t>
            </a:r>
          </a:p>
          <a:p xmlns:a="http://schemas.openxmlformats.org/drawingml/2006/main">
            <a:r>
              <a:t>- deploy/postgres/security_roles.sql</a:t>
            </a:r>
          </a:p>
          <a:p xmlns:a="http://schemas.openxmlformats.org/drawingml/2006/main">
            <a:r>
              <a:t>- docs/postgres-recovery-runbook.md</a:t>
            </a:r>
          </a:p>
          <a:p xmlns:a="http://schemas.openxmlformats.org/drawingml/2006/main">
            <a:r>
              <a:t>- docs/polardb-live-acceptance-runbook.md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30 秒：本地 PostgreSQL 16.14 已验证 27 项；PolarDB、PITR、读写分离和 failover 只能由云端报告升级状态。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docs/claims-evidence.md</a:t>
            </a:r>
          </a:p>
          <a:p xmlns:a="http://schemas.openxmlformats.org/drawingml/2006/main">
            <a:r>
              <a:t>- docs/judge-feedback-implementation.md</a:t>
            </a:r>
          </a:p>
          <a:p xmlns:a="http://schemas.openxmlformats.org/drawingml/2006/main">
            <a:r>
              <a:t>- semifinal_acceptance/README.md</a:t>
            </a:r>
          </a:p>
          <a:p xmlns:a="http://schemas.openxmlformats.org/drawingml/2006/main">
            <a:r>
              <a:t>- submission/semifinal-evidence-index.md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25 秒：把已运行、合同已验证与外部 NOT RUN 分层；一键包也不会把 operator assertion 冒充可认证 origin。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docs/judge-feedback-implementation.md</a:t>
            </a:r>
          </a:p>
          <a:p xmlns:a="http://schemas.openxmlformats.org/drawingml/2006/main">
            <a:r>
              <a:t>- docs/agentteams-live-runbook.md</a:t>
            </a:r>
          </a:p>
          <a:p xmlns:a="http://schemas.openxmlformats.org/drawingml/2006/main">
            <a:r>
              <a:t>- docs/polardb-live-acceptance-runbook.md</a:t>
            </a:r>
          </a:p>
          <a:p xmlns:a="http://schemas.openxmlformats.org/drawingml/2006/main">
            <a:r>
              <a:t>- submission/demo-script-8min.md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20 秒：先复现本地合同，再说明 live acceptance 需要同一 run 的官方协作、GPU、数据库与恢复证据。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64aaf082634c7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9c61e4ed6f34482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bd5e480c514431" /><Relationship Type="http://schemas.openxmlformats.org/officeDocument/2006/relationships/slideLayout" Target="/ppt/slideLayouts/slideLayout1.xml" Id="R7dcbf26137d341b3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4784b2d45b0d47f2" /><Relationship Type="http://schemas.openxmlformats.org/officeDocument/2006/relationships/slideLayout" Target="/ppt/slideLayouts/slideLayout2.xml" Id="R0f2806edff0f4a9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cbf26137d341b3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0f2806edff0f4a9a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a05add75f44f4" /><Relationship Type="http://schemas.openxmlformats.org/officeDocument/2006/relationships/image" Target="/ppt/media/image.png" Id="R8dd2c194b96a4080" /><Relationship Type="http://schemas.openxmlformats.org/officeDocument/2006/relationships/notesSlide" Target="/ppt/notesSlides/notesSlide1.xml" Id="R821c8daa948a48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0c6abf3c8468b" /><Relationship Type="http://schemas.openxmlformats.org/officeDocument/2006/relationships/notesSlide" Target="/ppt/notesSlides/notesSlide2.xml" Id="Ra9b1531eaf1444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bafd478b24844" /><Relationship Type="http://schemas.openxmlformats.org/officeDocument/2006/relationships/notesSlide" Target="/ppt/notesSlides/notesSlide3.xml" Id="R8e6588863ec64c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9d02efb8241c7" /><Relationship Type="http://schemas.openxmlformats.org/officeDocument/2006/relationships/notesSlide" Target="/ppt/notesSlides/notesSlide4.xml" Id="Ree86ac3303884c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52e3c716e48b5" /><Relationship Type="http://schemas.openxmlformats.org/officeDocument/2006/relationships/notesSlide" Target="/ppt/notesSlides/notesSlide5.xml" Id="R685dfb186ef04e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59c647d48426b" /><Relationship Type="http://schemas.openxmlformats.org/officeDocument/2006/relationships/notesSlide" Target="/ppt/notesSlides/notesSlide6.xml" Id="R453d65de75c84b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07676a8644924" /><Relationship Type="http://schemas.openxmlformats.org/officeDocument/2006/relationships/notesSlide" Target="/ppt/notesSlides/notesSlide7.xml" Id="R21be9173ea064d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1cf8814de4c51" /><Relationship Type="http://schemas.openxmlformats.org/officeDocument/2006/relationships/notesSlide" Target="/ppt/notesSlides/notesSlide8.xml" Id="R5ee8a992861743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ec624ab744854" /><Relationship Type="http://schemas.openxmlformats.org/officeDocument/2006/relationships/notesSlide" Target="/ppt/notesSlides/notesSlide9.xml" Id="Re1278eed08c241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39e47dc52c4702" /><Relationship Type="http://schemas.openxmlformats.org/officeDocument/2006/relationships/image" Target="/ppt/media/image.png" Id="R84dfc0cb39d24bce" /><Relationship Type="http://schemas.openxmlformats.org/officeDocument/2006/relationships/image" Target="/ppt/media/image2.png" Id="R079f5e3955614a1d" /><Relationship Type="http://schemas.openxmlformats.org/officeDocument/2006/relationships/notesSlide" Target="/ppt/notesSlides/notesSlide10.xml" Id="Raf738e42d60a48f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153d4f4c64385" /><Relationship Type="http://schemas.openxmlformats.org/officeDocument/2006/relationships/image" Target="/ppt/media/image.png" Id="Re71df22514cb43d4" /><Relationship Type="http://schemas.openxmlformats.org/officeDocument/2006/relationships/image" Target="/ppt/media/image3.png" Id="R7b39676bdc0a4f94" /><Relationship Type="http://schemas.openxmlformats.org/officeDocument/2006/relationships/notesSlide" Target="/ppt/notesSlides/notesSlide11.xml" Id="Rcab287f7148548a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782ef3b586404d" /><Relationship Type="http://schemas.openxmlformats.org/officeDocument/2006/relationships/notesSlide" Target="/ppt/notesSlides/notesSlide12.xml" Id="R3ae4b99f4bd14ef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593fb762c444f" /><Relationship Type="http://schemas.openxmlformats.org/officeDocument/2006/relationships/notesSlide" Target="/ppt/notesSlides/notesSlide13.xml" Id="Rb2c0d3c165a04eb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edc05e8714f95" /><Relationship Type="http://schemas.openxmlformats.org/officeDocument/2006/relationships/notesSlide" Target="/ppt/notesSlides/notesSlide14.xml" Id="R994480232e86428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aa28f039a4758" /><Relationship Type="http://schemas.openxmlformats.org/officeDocument/2006/relationships/notesSlide" Target="/ppt/notesSlides/notesSlide15.xml" Id="Rc16afe1b454e461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204c93fc32472d" /><Relationship Type="http://schemas.openxmlformats.org/officeDocument/2006/relationships/notesSlide" Target="/ppt/notesSlides/notesSlide16.xml" Id="R86c37ed5f02e41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8E78AA6-92DB-4A4E-9090-EE2A55AD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-1280160"/>
            <a:ext cx="4114800" cy="411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FD04D92-8485-4CFC-8E84-C249BD6C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420624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A715E5-54B0-48D1-9253-A1AF6F4B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22960" y="4937760"/>
            <a:ext cx="2743200" cy="274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95BE5C3-2C8E-4999-8930-224C9503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54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GOAI 2026 复赛｜Agent Infra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98CEEB8-FA1A-488C-9510-D7CCBC9F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38350"/>
            <a:ext cx="4762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buNone/>
              <a:defRPr sz="3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EgoAgentOS</a:t>
            </a:r>
            <a:endParaRPr sz="34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marL="0" indent="0">
              <a:lnSpc>
                <a:spcPct val="102000"/>
              </a:lnSpc>
              <a:buNone/>
              <a:defRPr sz="3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ResearchOps / RXP</a:t>
            </a:r>
            <a:endParaRPr sz="34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EA2F30C-8906-4B69-BAEA-B0C845BA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722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75">
                <a:solidFill>
                  <a:srgbClr val="A9B2D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>
                <a:solidFill>
                  <a:srgbClr val="A9B2D0"/>
                </a:solidFill>
                <a:latin typeface="Noto Sans CJK SC"/>
                <a:ea typeface="Noto Sans CJK SC"/>
                <a:cs typeface="Noto Sans CJK SC"/>
              </a:rPr>
              <a:t>吕新科 · 北京邮电大学 · 智能科学与技术</a:t>
            </a:r>
            <a:endParaRPr sz="975">
              <a:solidFill>
                <a:srgbClr val="A9B2D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E2D3AD9B-8920-439C-9142-87DB2CDE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95725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35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让 Auto Research 从黑盒对话变成可签发、可验收、可重放的实验协议</a:t>
            </a:r>
            <a:endParaRPr sz="135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2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2c194b96a4080"/>
          <a:srcRect xmlns:a="http://schemas.openxmlformats.org/drawingml/2006/main" l="2642" t="0" r="2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191125" y="1261745"/>
            <a:ext cx="7000875" cy="4619625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7935530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431E70D-6393-44A9-B2C3-8E7B5700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P0 · 复赛评委意见闭环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E3E73B4-3626-4539-A7FC-E37178B4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29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从 local proof 升级为 protocol + production-ready</a:t>
            </a:r>
            <a:endParaRPr sz="29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DED1FC2-193A-4B9F-8D1F-C4D54516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7807FFF-49F2-4DD3-A5A7-CE0D5989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B8E8570-AE40-49A9-A07A-B59A97B3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2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01 · 协作证据</a:t>
            </a:r>
            <a:endParaRPr sz="12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C996F51-0EF7-4CE9-A556-5A2DAF6F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  <a:defRPr sz="106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5">
                <a:solidFill>
                  <a:srgbClr val="E23B3B"/>
                </a:solidFill>
                <a:latin typeface="Noto Sans CJK SC"/>
                <a:ea typeface="Noto Sans CJK SC"/>
                <a:cs typeface="Noto Sans CJK SC"/>
              </a:rPr>
              <a:t>AgentTeams + bounded GPU chain</a:t>
            </a:r>
            <a:endParaRPr sz="1065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169DB30-8ADC-4D0E-A7CF-C1757C17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1" i="1">
                <a:solidFill>
                  <a:srgbClr val="E23B3B"/>
                </a:solidFill>
                <a:latin typeface="Noto Sans CJK SC"/>
                <a:ea typeface="Noto Sans CJK SC"/>
                <a:cs typeface="Noto Sans CJK SC"/>
              </a:rPr>
              <a:t>bridge · recovery｜official live NOT RUN</a:t>
            </a:r>
            <a:endParaRPr sz="990" b="1" i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970162B-D874-45D5-9B3A-07B38534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8E4F5D4-2F6D-4196-8A95-950CA304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C15DA15-8BDC-4688-93CF-E6BA5C3C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2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02 · 数据底座</a:t>
            </a:r>
            <a:endParaRPr sz="12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54786F9-162C-499D-98A8-0F15B1B8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  <a:defRPr sz="106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5">
                <a:solidFill>
                  <a:srgbClr val="E23B3B"/>
                </a:solidFill>
                <a:latin typeface="Noto Sans CJK SC"/>
                <a:ea typeface="Noto Sans CJK SC"/>
                <a:cs typeface="Noto Sans CJK SC"/>
              </a:rPr>
              <a:t>PostgreSQL control plane</a:t>
            </a:r>
            <a:endParaRPr sz="1065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1FBBB8A-FF21-4A47-B183-B1B06368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1" i="1">
                <a:solidFill>
                  <a:srgbClr val="E23B3B"/>
                </a:solidFill>
                <a:latin typeface="Noto Sans CJK SC"/>
                <a:ea typeface="Noto Sans CJK SC"/>
                <a:cs typeface="Noto Sans CJK SC"/>
              </a:rPr>
              <a:t>4 roles · RLS · append-only · LISTEN/NOTIFY</a:t>
            </a:r>
            <a:endParaRPr sz="990" b="1" i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D6B0BA77-3D5E-4532-99C2-C7F172AA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A9AAD5A-6E87-4199-86A2-F3225A41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8712367-DCE6-4F93-92D2-61A11FAA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2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03 · 新协议</a:t>
            </a:r>
            <a:endParaRPr sz="12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66B762D-D631-47C0-9D98-7A09D3E5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  <a:defRPr sz="106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5">
                <a:solidFill>
                  <a:srgbClr val="E23B3B"/>
                </a:solidFill>
                <a:latin typeface="Noto Sans CJK SC"/>
                <a:ea typeface="Noto Sans CJK SC"/>
                <a:cs typeface="Noto Sans CJK SC"/>
              </a:rPr>
              <a:t>RXP/1 experiment grant</a:t>
            </a:r>
            <a:endParaRPr sz="1065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889583E-6559-40A8-8C61-1BB89CEA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1" i="1">
                <a:solidFill>
                  <a:srgbClr val="E23B3B"/>
                </a:solidFill>
                <a:latin typeface="Noto Sans CJK SC"/>
                <a:ea typeface="Noto Sans CJK SC"/>
                <a:cs typeface="Noto Sans CJK SC"/>
              </a:rPr>
              <a:t>Intent → Grant → Receipt → Evidence → Decision</a:t>
            </a:r>
            <a:endParaRPr sz="990" b="1" i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CC649240-B844-4E08-9F70-DB61C14D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441B97B1-8AEC-46B8-A393-A91D416F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3F798F6-D0FF-4D5A-B6C9-26B816F8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2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04 · 严格评测</a:t>
            </a:r>
            <a:endParaRPr sz="12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C4D5E43-9A05-4458-A7AF-66043E14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  <a:defRPr sz="106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5">
                <a:solidFill>
                  <a:srgbClr val="E23B3B"/>
                </a:solidFill>
                <a:latin typeface="Noto Sans CJK SC"/>
                <a:ea typeface="Noto Sans CJK SC"/>
                <a:cs typeface="Noto Sans CJK SC"/>
              </a:rPr>
              <a:t>14 scenarios + 8 acceptance cases</a:t>
            </a:r>
            <a:endParaRPr sz="1065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4593839-9A04-44C9-ADA7-4F5029BB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1" i="1">
                <a:solidFill>
                  <a:srgbClr val="E23B3B"/>
                </a:solidFill>
                <a:latin typeface="Noto Sans CJK SC"/>
                <a:ea typeface="Noto Sans CJK SC"/>
                <a:cs typeface="Noto Sans CJK SC"/>
              </a:rPr>
              <a:t>trace oracle · origin gate · recovery assertions</a:t>
            </a:r>
            <a:endParaRPr sz="990" b="1" i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AD16381-4ABD-4939-B181-1EA7C9A7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B687F70B-9A13-4AE4-8A32-FE7E97D7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B2435CC-54A0-4272-B58D-89D57737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2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05 · 评委复现</a:t>
            </a:r>
            <a:endParaRPr sz="12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3296145-3FC0-4616-992F-AAEF1FC1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  <a:defRPr sz="106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5">
                <a:solidFill>
                  <a:srgbClr val="E23B3B"/>
                </a:solidFill>
                <a:latin typeface="Noto Sans CJK SC"/>
                <a:ea typeface="Noto Sans CJK SC"/>
                <a:cs typeface="Noto Sans CJK SC"/>
              </a:rPr>
              <a:t>Cockpit + one-click acceptance bundle</a:t>
            </a:r>
            <a:endParaRPr sz="1065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546E47A-0E5D-45C0-BA07-BD506768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1" i="1">
                <a:solidFill>
                  <a:srgbClr val="E23B3B"/>
                </a:solidFill>
                <a:latin typeface="Noto Sans CJK SC"/>
                <a:ea typeface="Noto Sans CJK SC"/>
                <a:cs typeface="Noto Sans CJK SC"/>
              </a:rPr>
              <a:t>static replay · local full stack · frozen evidence</a:t>
            </a:r>
            <a:endParaRPr sz="990" b="1" i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1B1D5EE4-D4EF-4F2B-999B-FF275069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8543959-D351-4329-9A30-694AA81B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0839EBA4-1953-47C1-A2F4-F68454D4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2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06 · 事实边界</a:t>
            </a:r>
            <a:endParaRPr sz="12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89B09D4-FB01-41D1-A71E-2F443612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  <a:defRPr sz="106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5">
                <a:solidFill>
                  <a:srgbClr val="E23B3B"/>
                </a:solidFill>
                <a:latin typeface="Noto Sans CJK SC"/>
                <a:ea typeface="Noto Sans CJK SC"/>
                <a:cs typeface="Noto Sans CJK SC"/>
              </a:rPr>
              <a:t>PASS / NOT RUN / UNVERIFIED</a:t>
            </a:r>
            <a:endParaRPr sz="1065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BDB55E65-1635-419C-A2B2-559B93C4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1" i="1">
                <a:solidFill>
                  <a:srgbClr val="E23B3B"/>
                </a:solidFill>
                <a:latin typeface="Noto Sans CJK SC"/>
                <a:ea typeface="Noto Sans CJK SC"/>
                <a:cs typeface="Noto Sans CJK SC"/>
              </a:rPr>
              <a:t>official AgentTeams · GPU · PolarDB/PITR 不冒认</a:t>
            </a:r>
            <a:endParaRPr sz="990" b="1" i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7353BC12-5226-4FB1-9FC9-B4B09DFD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90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90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66574313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1DD2A3E-4FCF-4261-B176-A0D22133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2748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场景 · Auto Research control gap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2802293-4C2C-4CA7-A2A4-0EA245FA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5491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29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AI 会提实验，不等于实验可被相信</a:t>
            </a:r>
            <a:endParaRPr sz="29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1B938E34-DBBA-48B4-8636-18B34ACE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75" y="118935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面向 AI / 具身研究工程师：把一次研究意图收束为完整矩阵、一次性权限、原始证据与独立 Decision。</a:t>
            </a:r>
            <a:endParaRPr sz="1125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6280A427-F5A0-4CAB-9F5C-BCEF5E15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6265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4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4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窄入口：EgoLite streaming perception｜控制面可执行｜workload 与模型增益仍标记 SYNTHETIC</a:t>
            </a:r>
            <a:endParaRPr sz="94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EBA3E244-9D13-4EBA-B1D0-D3719A74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2390775"/>
            <a:ext cx="5560060" cy="3127375"/>
          </a:xfrm>
          <a:prstGeom xmlns:a="http://schemas.openxmlformats.org/drawingml/2006/main" prst="roundRect">
            <a:avLst>
              <a:gd name="adj" fmla="val 487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E9BCD9B4-6E7A-4711-AF80-E68E32F0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710" y="2505075"/>
            <a:ext cx="1143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>
              <a:alpha val="9412"/>
            </a:srgbClr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BLACK-BOX LOOP</a:t>
            </a:r>
            <a:endParaRPr sz="750" b="1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F3277F4-6DF1-4CA8-836F-9F183689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710" y="2781300"/>
            <a:ext cx="52933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同一 Agent 提案、执行、算分、写结论</a:t>
            </a:r>
            <a:endParaRPr sz="1350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3E60D387-8003-4A07-95FD-4F5B9E40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710" y="3143250"/>
            <a:ext cx="5293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B2902EB8-BDAF-4745-B932-D4514085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" y="3305175"/>
            <a:ext cx="12573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EB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Goal</a:t>
            </a:r>
            <a:endParaRPr sz="790" b="1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784A400A-98F9-4BBC-BF9C-4BCCEA3A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" y="3676650"/>
            <a:ext cx="12573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Code / config</a:t>
            </a:r>
            <a:endParaRPr sz="790" b="1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C86EE2A1-773C-4394-B48F-708F6019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" y="4048125"/>
            <a:ext cx="12573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BFD"/>
          </a:solidFill>
          <a:ln xmlns:a="http://schemas.openxmlformats.org/drawingml/2006/main" w="9525">
            <a:solidFill>
              <a:srgbClr val="08AFC7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Dataset</a:t>
            </a:r>
            <a:endParaRPr sz="790" b="1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8817DD5A-D32D-4F52-AC19-426E0445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" y="4419600"/>
            <a:ext cx="12573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GPU / logs</a:t>
            </a:r>
            <a:endParaRPr sz="790" b="1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84E0B764-4346-49DF-B13C-A322C433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" y="4791075"/>
            <a:ext cx="12573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Metric / claim</a:t>
            </a:r>
            <a:endParaRPr sz="790" b="1">
              <a:solidFill>
                <a:srgbClr val="D9770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5930A455-7F17-48BF-A685-02C0A843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3910" y="3448050"/>
            <a:ext cx="1619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015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5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能力生成 / 优化层</a:t>
            </a:r>
            <a:endParaRPr sz="1015" b="1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algn="ctr">
              <a:buNone/>
              <a:defRPr sz="1015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5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模型 · 程序 · 轨迹</a:t>
            </a:r>
            <a:endParaRPr sz="1015" b="1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78307809-2BA2-419A-984B-EE7668BA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2710" y="3286125"/>
            <a:ext cx="1790700" cy="1514475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  <p:txBody>
          <a:bodyPr xmlns:a="http://schemas.openxmlformats.org/drawingml/2006/main" lIns="133350" tIns="114300" rIns="114300" bIns="76200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1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可信断点</a:t>
            </a:r>
            <a:endParaRPr sz="915" b="1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endParaRPr sz="915"/>
          </a:p>
          <a:p xmlns:a="http://schemas.openxmlformats.org/drawingml/2006/main">
            <a:pPr algn="l">
              <a:buNone/>
              <a:defRPr sz="91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1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× Scope 漂移</a:t>
            </a:r>
            <a:endParaRPr sz="915" b="1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algn="l">
              <a:buNone/>
              <a:defRPr sz="91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1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× Matrix 漏跑</a:t>
            </a:r>
            <a:endParaRPr sz="915" b="1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algn="l">
              <a:buNone/>
              <a:defRPr sz="91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1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× 自评自证</a:t>
            </a:r>
            <a:endParaRPr sz="915" b="1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algn="l">
              <a:buNone/>
              <a:defRPr sz="91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1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× Crash 后谱系断裂</a:t>
            </a:r>
            <a:endParaRPr sz="915" b="1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cxnSp>
        <p:nvCxnSpPr>
          <p:cNvPr id="204" name="直接箭头连接符 56"/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769110" y="3433763"/>
            <a:ext cx="304800" cy="414338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4A3B8"/>
            </a:solidFill>
            <a:prstDash val="solid"/>
            <a:headEnd type="arrow" w="sm" len="sm"/>
          </a:ln>
        </p:spPr>
      </p:cxnSp>
      <p:cxnSp>
        <p:nvCxnSpPr>
          <p:cNvPr id="205" name="直接箭头连接符 57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769110" y="3805238"/>
            <a:ext cx="304800" cy="4286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4A3B8"/>
            </a:solidFill>
            <a:prstDash val="solid"/>
            <a:headEnd type="arrow" w="sm" len="sm"/>
          </a:ln>
        </p:spPr>
      </p:cxnSp>
      <p:cxnSp>
        <p:nvCxnSpPr>
          <p:cNvPr id="206" name="直接箭头连接符 58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1769110" y="3848100"/>
            <a:ext cx="304800" cy="32861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4A3B8"/>
            </a:solidFill>
            <a:prstDash val="solid"/>
            <a:headEnd type="arrow" w="sm" len="sm"/>
          </a:ln>
        </p:spPr>
      </p:cxnSp>
      <p:cxnSp>
        <p:nvCxnSpPr>
          <p:cNvPr id="207" name="直接箭头连接符 59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1769110" y="3848100"/>
            <a:ext cx="304800" cy="700088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4A3B8"/>
            </a:solidFill>
            <a:prstDash val="solid"/>
            <a:headEnd type="arrow" w="sm" len="sm"/>
          </a:ln>
        </p:spPr>
      </p:cxnSp>
      <p:cxnSp>
        <p:nvCxnSpPr>
          <p:cNvPr id="208" name="直接箭头连接符 60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1769110" y="3848100"/>
            <a:ext cx="304800" cy="107156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4A3B8"/>
            </a:solidFill>
            <a:prstDash val="solid"/>
            <a:headEnd type="arrow" w="sm" len="sm"/>
          </a:ln>
        </p:spPr>
      </p:cxnSp>
      <p:cxnSp>
        <p:nvCxnSpPr>
          <p:cNvPr id="209" name="直接箭头连接符 61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3693160" y="3848100"/>
            <a:ext cx="209550" cy="195263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DC2626"/>
            </a:solidFill>
            <a:prstDash val="solid"/>
            <a:headEnd type="arrow" w="sm" len="sm"/>
          </a:ln>
        </p:spPr>
      </p:cxn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CA486546-54B4-48B9-B6E3-49589628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" y="5132705"/>
            <a:ext cx="521716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buNone/>
              <a:defRPr sz="840" b="1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40" b="1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真实代价不是少写几条命令，而是无法证明：谁授权、跑了哪格、证据是否齐全、失败是否改变结论。</a:t>
            </a:r>
            <a:endParaRPr sz="840" b="1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04684E51-E278-4CC1-B37A-4317002F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505" y="2390775"/>
            <a:ext cx="5485765" cy="3101340"/>
          </a:xfrm>
          <a:prstGeom xmlns:a="http://schemas.openxmlformats.org/drawingml/2006/main" prst="roundRect">
            <a:avLst>
              <a:gd name="adj" fmla="val 4914"/>
            </a:avLst>
          </a:prstGeom>
          <a:solidFill xmlns:a="http://schemas.openxmlformats.org/drawingml/2006/main">
            <a:srgbClr val="0C1B33"/>
          </a:solidFill>
          <a:ln xmlns:a="http://schemas.openxmlformats.org/drawingml/2006/main" w="0">
            <a:solidFill>
              <a:srgbClr val="0C1B33"/>
            </a:solidFill>
            <a:prstDash val="solid"/>
          </a:ln>
        </p:spPr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D322541A-B046-4B9E-A9CD-9B018ECE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380" y="2505075"/>
            <a:ext cx="11049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2430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EGOAGENTOS</a:t>
            </a:r>
            <a:endParaRPr sz="75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5698E98E-3213-4483-9145-2576DE0D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380" y="2781300"/>
            <a:ext cx="520001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Research control plane</a:t>
            </a:r>
            <a:endParaRPr sz="13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78E45F5C-2040-4A07-89BF-015E1B22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905" y="3209925"/>
            <a:ext cx="4000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82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3682D375-F0E3-4710-A2A6-D4B1370A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205" y="320040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Freeze</a:t>
            </a:r>
            <a:endParaRPr sz="975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995D66C-E42A-48C1-B8C8-788B3C14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205" y="3371850"/>
            <a:ext cx="462851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0" b="0" i="0">
                <a:solidFill>
                  <a:srgbClr val="C9D4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C9D4E8"/>
                </a:solidFill>
                <a:latin typeface="Noto Sans CJK SC"/>
                <a:ea typeface="Noto Sans CJK SC"/>
                <a:cs typeface="Noto Sans CJK SC"/>
              </a:rPr>
              <a:t>Intent + MatrixPlan</a:t>
            </a:r>
            <a:endParaRPr sz="790" b="0" i="0">
              <a:solidFill>
                <a:srgbClr val="C9D4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2" name="圆角矩形 31">
            <a:extLst xmlns:a="http://schemas.openxmlformats.org/drawingml/2006/main">
              <a:ext uri="{FF2B5EF4-FFF2-40B4-BE49-F238E27FC236}">
                <a16:creationId xmlns:a16="http://schemas.microsoft.com/office/drawing/2014/main" id="{8051D232-2E5A-4780-8258-F488D201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905" y="3686175"/>
            <a:ext cx="4000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8AFC7"/>
          </a:solidFill>
          <a:ln xmlns:a="http://schemas.openxmlformats.org/drawingml/2006/main" w="0">
            <a:solidFill>
              <a:srgbClr val="08AFC7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82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384425B5-DAFA-4043-8F55-F3958C16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205" y="367665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Authorize</a:t>
            </a:r>
            <a:endParaRPr sz="975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C75CC727-1999-4362-B469-F074E494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205" y="3848100"/>
            <a:ext cx="462851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0" b="0" i="0">
                <a:solidFill>
                  <a:srgbClr val="C9D4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C9D4E8"/>
                </a:solidFill>
                <a:latin typeface="Noto Sans CJK SC"/>
                <a:ea typeface="Noto Sans CJK SC"/>
                <a:cs typeface="Noto Sans CJK SC"/>
              </a:rPr>
              <a:t>exact-cell one-time Grant</a:t>
            </a:r>
            <a:endParaRPr sz="790" b="0" i="0">
              <a:solidFill>
                <a:srgbClr val="C9D4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圆角矩形 34">
            <a:extLst xmlns:a="http://schemas.openxmlformats.org/drawingml/2006/main">
              <a:ext uri="{FF2B5EF4-FFF2-40B4-BE49-F238E27FC236}">
                <a16:creationId xmlns:a16="http://schemas.microsoft.com/office/drawing/2014/main" id="{6A2493B4-AA73-47C7-8E76-5BBC1F25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905" y="4162425"/>
            <a:ext cx="4000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82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7844135C-D9B4-4F9D-A47D-7464C2C3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205" y="415290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Execute</a:t>
            </a:r>
            <a:endParaRPr sz="975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2583365C-5A7D-4B65-84E2-243D8494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205" y="4324350"/>
            <a:ext cx="462851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0" b="0" i="0">
                <a:solidFill>
                  <a:srgbClr val="C9D4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C9D4E8"/>
                </a:solidFill>
                <a:latin typeface="Noto Sans CJK SC"/>
                <a:ea typeface="Noto Sans CJK SC"/>
                <a:cs typeface="Noto Sans CJK SC"/>
              </a:rPr>
              <a:t>Receipt + raw Evidence</a:t>
            </a:r>
            <a:endParaRPr sz="790" b="0" i="0">
              <a:solidFill>
                <a:srgbClr val="C9D4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圆角矩形 37">
            <a:extLst xmlns:a="http://schemas.openxmlformats.org/drawingml/2006/main">
              <a:ext uri="{FF2B5EF4-FFF2-40B4-BE49-F238E27FC236}">
                <a16:creationId xmlns:a16="http://schemas.microsoft.com/office/drawing/2014/main" id="{480F118E-62DB-4403-8C84-BC48079A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905" y="4638675"/>
            <a:ext cx="4000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82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6779EE73-3018-41C0-8E2F-F51E687B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205" y="462915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</a:t>
            </a:r>
            <a:endParaRPr sz="975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A38DCED9-C4A1-45E8-93AC-C8A5E8A6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205" y="4800600"/>
            <a:ext cx="462851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0" b="0" i="0">
                <a:solidFill>
                  <a:srgbClr val="C9D4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C9D4E8"/>
                </a:solidFill>
                <a:latin typeface="Noto Sans CJK SC"/>
                <a:ea typeface="Noto Sans CJK SC"/>
                <a:cs typeface="Noto Sans CJK SC"/>
              </a:rPr>
              <a:t>independent gate + replay</a:t>
            </a:r>
            <a:endParaRPr sz="790" b="0" i="0">
              <a:solidFill>
                <a:srgbClr val="C9D4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5A1F6D86-D9FF-4D54-9E2F-6AF3B45D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905" y="5105400"/>
            <a:ext cx="518096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B48"/>
          </a:solidFill>
          <a:ln xmlns:a="http://schemas.openxmlformats.org/drawingml/2006/main" w="9525">
            <a:solidFill>
              <a:srgbClr val="36506E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1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1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输入：goal / budget / policy｜输出：Decision + evidence root + reusable Skill trace</a:t>
            </a:r>
            <a:endParaRPr sz="810" b="1" i="0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8445245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907074B-4C77-4552-8404-FD7963FA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闭环 · 三平面架构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D81FB40-2DD2-4945-B1D1-D2618B7D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29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同一 run_id 贯穿完整实验闭环</a:t>
            </a:r>
            <a:endParaRPr sz="29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5EA5EABF-9D17-4BD9-AA44-D84A08AC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90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90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F3F998AD-EFC3-435F-9457-6CE708DD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9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AgentTeams 管动态协作；RXP 管实验事实；Skill / MCP 管受控动作；PostgreSQL 管生产持久状态。</a:t>
            </a:r>
            <a:endParaRPr sz="109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2E30D1FD-0E9B-4067-A2A5-6DDCBC79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44345"/>
            <a:ext cx="11144250" cy="4457700"/>
          </a:xfrm>
          <a:prstGeom xmlns:a="http://schemas.openxmlformats.org/drawingml/2006/main" prst="roundRect">
            <a:avLst>
              <a:gd name="adj" fmla="val 341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3192A94E-966B-49B9-BB6B-A36D1D84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rPr>
              <a:t>INTAKE</a:t>
            </a:r>
            <a:endParaRPr sz="715" b="1" i="0">
              <a:solidFill>
                <a:srgbClr val="94A3B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圆角矩形 40">
            <a:extLst xmlns:a="http://schemas.openxmlformats.org/drawingml/2006/main">
              <a:ext uri="{FF2B5EF4-FFF2-40B4-BE49-F238E27FC236}">
                <a16:creationId xmlns:a16="http://schemas.microsoft.com/office/drawing/2014/main" id="{EB8E1E7A-6F51-4A30-A20E-B6356EEC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33600"/>
            <a:ext cx="1238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EB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Research Goal</a:t>
            </a:r>
            <a:endParaRPr sz="790" b="1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93E9B313-7A30-4397-9882-BEAEA7AC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47950"/>
            <a:ext cx="1238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ContextBundle</a:t>
            </a:r>
            <a:endParaRPr sz="79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4AE3CECD-F420-421A-BD7C-F9FDCD03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62300"/>
            <a:ext cx="1238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MatrixPlan</a:t>
            </a:r>
            <a:endParaRPr sz="79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4" name="圆角矩形 43">
            <a:extLst xmlns:a="http://schemas.openxmlformats.org/drawingml/2006/main">
              <a:ext uri="{FF2B5EF4-FFF2-40B4-BE49-F238E27FC236}">
                <a16:creationId xmlns:a16="http://schemas.microsoft.com/office/drawing/2014/main" id="{80B9B6A2-5F39-47FA-8446-38BF9BFA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76650"/>
            <a:ext cx="1238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Human Gate</a:t>
            </a:r>
            <a:endParaRPr sz="79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096DC7E6-BB41-447F-9117-D2770295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91000"/>
            <a:ext cx="1238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Decision</a:t>
            </a:r>
            <a:endParaRPr sz="79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42F75B6C-7081-479D-B6EE-8D492D74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85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rPr>
              <a:t>COLLABORATION PLANE · OFFICIAL AGENTTEAMS ADAPTER</a:t>
            </a:r>
            <a:endParaRPr sz="715" b="1" i="0">
              <a:solidFill>
                <a:srgbClr val="94A3B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82925637-6D42-4D83-8F44-09B9192B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05025"/>
            <a:ext cx="3638550" cy="2505075"/>
          </a:xfrm>
          <a:prstGeom xmlns:a="http://schemas.openxmlformats.org/drawingml/2006/main" prst="roundRect">
            <a:avLst>
              <a:gd name="adj" fmla="val 6084"/>
            </a:avLst>
          </a:prstGeom>
          <a:solidFill xmlns:a="http://schemas.openxmlformats.org/drawingml/2006/main">
            <a:srgbClr val="1B1F3B"/>
          </a:solidFill>
          <a:ln xmlns:a="http://schemas.openxmlformats.org/drawingml/2006/main" w="0">
            <a:solidFill>
              <a:srgbClr val="1B1F3B"/>
            </a:solidFill>
            <a:prstDash val="solid"/>
          </a:ln>
        </p:spPr>
      </p:sp>
      <p:sp>
        <p:nvSpPr>
          <p:cNvPr id="48" name="圆角矩形 47">
            <a:extLst xmlns:a="http://schemas.openxmlformats.org/drawingml/2006/main">
              <a:ext uri="{FF2B5EF4-FFF2-40B4-BE49-F238E27FC236}">
                <a16:creationId xmlns:a16="http://schemas.microsoft.com/office/drawing/2014/main" id="{1AF60FE3-9A4D-4BD4-AEB1-97387F2E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247900"/>
            <a:ext cx="14763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2A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Research PI / Manager</a:t>
            </a:r>
            <a:endParaRPr sz="825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6366D5D6-7962-4107-9B98-114DA5B9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527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50" b="0" i="0">
                <a:solidFill>
                  <a:srgbClr val="BFC9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 i="0">
                <a:solidFill>
                  <a:srgbClr val="BFC9E5"/>
                </a:solidFill>
                <a:latin typeface="Noto Sans CJK SC"/>
                <a:ea typeface="Noto Sans CJK SC"/>
                <a:cs typeface="Noto Sans CJK SC"/>
              </a:rPr>
              <a:t>create · decompose · delegate · accept · verify</a:t>
            </a:r>
            <a:endParaRPr sz="750" b="0" i="0">
              <a:solidFill>
                <a:srgbClr val="BFC9E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0" name="圆角矩形 49">
            <a:extLst xmlns:a="http://schemas.openxmlformats.org/drawingml/2006/main">
              <a:ext uri="{FF2B5EF4-FFF2-40B4-BE49-F238E27FC236}">
                <a16:creationId xmlns:a16="http://schemas.microsoft.com/office/drawing/2014/main" id="{FAC2CE25-F531-46F6-B8F1-F9E87F71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05125"/>
            <a:ext cx="14382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6304F"/>
          </a:solidFill>
          <a:ln xmlns:a="http://schemas.openxmlformats.org/drawingml/2006/main" w="9525">
            <a:solidFill>
              <a:srgbClr val="465173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Scout</a:t>
            </a:r>
            <a:endParaRPr sz="80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1" name="圆角矩形 50">
            <a:extLst xmlns:a="http://schemas.openxmlformats.org/drawingml/2006/main">
              <a:ext uri="{FF2B5EF4-FFF2-40B4-BE49-F238E27FC236}">
                <a16:creationId xmlns:a16="http://schemas.microsoft.com/office/drawing/2014/main" id="{45E874DB-4CAA-4DD6-B0E2-5AEEED87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905125"/>
            <a:ext cx="14382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6304F"/>
          </a:solidFill>
          <a:ln xmlns:a="http://schemas.openxmlformats.org/drawingml/2006/main" w="9525">
            <a:solidFill>
              <a:srgbClr val="465173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Architect</a:t>
            </a:r>
            <a:endParaRPr sz="80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2" name="圆角矩形 51">
            <a:extLst xmlns:a="http://schemas.openxmlformats.org/drawingml/2006/main">
              <a:ext uri="{FF2B5EF4-FFF2-40B4-BE49-F238E27FC236}">
                <a16:creationId xmlns:a16="http://schemas.microsoft.com/office/drawing/2014/main" id="{CF942107-3E99-4C00-B1EA-B9B570B4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81375"/>
            <a:ext cx="14382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6304F"/>
          </a:solidFill>
          <a:ln xmlns:a="http://schemas.openxmlformats.org/drawingml/2006/main" w="9525">
            <a:solidFill>
              <a:srgbClr val="465173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Runtime</a:t>
            </a:r>
            <a:endParaRPr sz="80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圆角矩形 52">
            <a:extLst xmlns:a="http://schemas.openxmlformats.org/drawingml/2006/main">
              <a:ext uri="{FF2B5EF4-FFF2-40B4-BE49-F238E27FC236}">
                <a16:creationId xmlns:a16="http://schemas.microsoft.com/office/drawing/2014/main" id="{9B8D0D6A-809E-45C3-94E5-DB2E6E4F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81375"/>
            <a:ext cx="14382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6304F"/>
          </a:solidFill>
          <a:ln xmlns:a="http://schemas.openxmlformats.org/drawingml/2006/main" w="9525">
            <a:solidFill>
              <a:srgbClr val="465173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Evaluator</a:t>
            </a:r>
            <a:endParaRPr sz="80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6DD2C7FD-048E-484C-B478-49C18B17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857625"/>
            <a:ext cx="14382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A2430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Reviewer</a:t>
            </a:r>
            <a:endParaRPr sz="80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5" name="圆角矩形 54">
            <a:extLst xmlns:a="http://schemas.openxmlformats.org/drawingml/2006/main">
              <a:ext uri="{FF2B5EF4-FFF2-40B4-BE49-F238E27FC236}">
                <a16:creationId xmlns:a16="http://schemas.microsoft.com/office/drawing/2014/main" id="{0015C2D8-596D-4FF6-AC7A-5DDF692B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857625"/>
            <a:ext cx="14382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6304F"/>
          </a:solidFill>
          <a:ln xmlns:a="http://schemas.openxmlformats.org/drawingml/2006/main" w="9525">
            <a:solidFill>
              <a:srgbClr val="465173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Memory candidate</a:t>
            </a:r>
            <a:endParaRPr sz="80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D7843E1C-B306-40FD-920F-FF391044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391025"/>
            <a:ext cx="3257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00" b="0" i="0">
                <a:solidFill>
                  <a:srgbClr val="AEBBD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0" i="0">
                <a:solidFill>
                  <a:srgbClr val="AEBBD8"/>
                </a:solidFill>
                <a:latin typeface="Noto Sans CJK SC"/>
                <a:ea typeface="Noto Sans CJK SC"/>
                <a:cs typeface="Noto Sans CJK SC"/>
              </a:rPr>
              <a:t>Project / Task / Room 可重路由；消息只携带引用，不替代 source of truth</a:t>
            </a:r>
            <a:endParaRPr sz="700" b="0" i="0">
              <a:solidFill>
                <a:srgbClr val="AEBB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1D1D9CF6-7EF1-480D-AA3D-B828B000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05025"/>
            <a:ext cx="2381250" cy="250507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58" name="圆角矩形 57">
            <a:extLst xmlns:a="http://schemas.openxmlformats.org/drawingml/2006/main">
              <a:ext uri="{FF2B5EF4-FFF2-40B4-BE49-F238E27FC236}">
                <a16:creationId xmlns:a16="http://schemas.microsoft.com/office/drawing/2014/main" id="{2579BC7C-2C74-4F01-ACFA-3E3D84F3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57425"/>
            <a:ext cx="11430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EXPERIMENT TRUTH PLANE</a:t>
            </a:r>
            <a:endParaRPr sz="675" b="1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AA027D9D-4153-4FAA-8AF7-2D25C153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43175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RXP/1</a:t>
            </a:r>
            <a:endParaRPr sz="157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0" name="椭圆 59">
            <a:extLst xmlns:a="http://schemas.openxmlformats.org/drawingml/2006/main">
              <a:ext uri="{FF2B5EF4-FFF2-40B4-BE49-F238E27FC236}">
                <a16:creationId xmlns:a16="http://schemas.microsoft.com/office/drawing/2014/main" id="{A0C1B876-48B0-43DA-9C5B-8B6C0D6B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9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7A6768BE-2676-4AD7-85DE-FB557449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241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Intent / plan digest</a:t>
            </a:r>
            <a:endParaRPr sz="81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2" name="椭圆 61">
            <a:extLst xmlns:a="http://schemas.openxmlformats.org/drawingml/2006/main">
              <a:ext uri="{FF2B5EF4-FFF2-40B4-BE49-F238E27FC236}">
                <a16:creationId xmlns:a16="http://schemas.microsoft.com/office/drawing/2014/main" id="{5BA93FCD-7C37-4889-9274-3AFE91AF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302F3829-1AB7-48BB-A007-C9551F34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480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Grant / nonce / scope</a:t>
            </a:r>
            <a:endParaRPr sz="81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4" name="椭圆 63">
            <a:extLst xmlns:a="http://schemas.openxmlformats.org/drawingml/2006/main">
              <a:ext uri="{FF2B5EF4-FFF2-40B4-BE49-F238E27FC236}">
                <a16:creationId xmlns:a16="http://schemas.microsoft.com/office/drawing/2014/main" id="{5F6242C8-BA66-43B9-AA80-0FE42938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57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24CF5400-AEC0-402E-9795-79690E50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718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Receipt / evidence root</a:t>
            </a:r>
            <a:endParaRPr sz="81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6" name="椭圆 65">
            <a:extLst xmlns:a="http://schemas.openxmlformats.org/drawingml/2006/main">
              <a:ext uri="{FF2B5EF4-FFF2-40B4-BE49-F238E27FC236}">
                <a16:creationId xmlns:a16="http://schemas.microsoft.com/office/drawing/2014/main" id="{805C0706-9A22-49A5-A5C4-C5576035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81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B514D404-249F-4D60-835F-3DD1F60E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957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Decision / ledger root</a:t>
            </a:r>
            <a:endParaRPr sz="81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48C807DB-AC04-499C-84EB-6D5B97D3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86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Token 是能力凭证，不是聊天许可</a:t>
            </a:r>
            <a:endParaRPr sz="7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B422BB92-6C1B-48C0-B6FF-819D7C9C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8859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rPr>
              <a:t>SKILL &amp; TOOL PLANE</a:t>
            </a:r>
            <a:endParaRPr sz="715" b="1" i="0">
              <a:solidFill>
                <a:srgbClr val="94A3B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0" name="圆角矩形 69">
            <a:extLst xmlns:a="http://schemas.openxmlformats.org/drawingml/2006/main">
              <a:ext uri="{FF2B5EF4-FFF2-40B4-BE49-F238E27FC236}">
                <a16:creationId xmlns:a16="http://schemas.microsoft.com/office/drawing/2014/main" id="{065E5CDC-ABF2-48ED-AE9B-078B09BA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05025"/>
            <a:ext cx="22669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002784AE-73E8-4863-981A-E60BB87A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717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715" b="1" i="0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9620F7A9-7F06-4106-8824-860BEA1B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33600"/>
            <a:ext cx="733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Discover</a:t>
            </a:r>
            <a:endParaRPr sz="79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292EFA87-FBF7-4537-95F9-129F02E1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1336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6 digest-pinned Skills</a:t>
            </a:r>
            <a:endParaRPr sz="70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4" name="圆角矩形 73">
            <a:extLst xmlns:a="http://schemas.openxmlformats.org/drawingml/2006/main">
              <a:ext uri="{FF2B5EF4-FFF2-40B4-BE49-F238E27FC236}">
                <a16:creationId xmlns:a16="http://schemas.microsoft.com/office/drawing/2014/main" id="{CCB6277A-23C2-4DC1-86A5-4C30627A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00325"/>
            <a:ext cx="22669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AFC7"/>
            </a:solidFill>
            <a:prstDash val="solid"/>
          </a:ln>
        </p:spPr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0B9F80CF-1BCF-4195-8F3C-5275BF19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670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715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A49F1990-80CB-405A-A7E2-CEE93A5C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28900"/>
            <a:ext cx="733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Invoke</a:t>
            </a:r>
            <a:endParaRPr sz="79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E1D9CCB1-6638-4F68-8225-C7A49B15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6289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3 allowlisted handlers</a:t>
            </a:r>
            <a:endParaRPr sz="70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8" name="圆角矩形 77">
            <a:extLst xmlns:a="http://schemas.openxmlformats.org/drawingml/2006/main">
              <a:ext uri="{FF2B5EF4-FFF2-40B4-BE49-F238E27FC236}">
                <a16:creationId xmlns:a16="http://schemas.microsoft.com/office/drawing/2014/main" id="{14302A79-0E26-43B2-A677-115AD3B0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95625"/>
            <a:ext cx="22669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86FB0A9A-EE35-46F5-9CAD-9C1443BE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623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715" b="1" i="0">
              <a:solidFill>
                <a:srgbClr val="D9770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21999327-EE43-48AB-8859-9FF707D3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24200"/>
            <a:ext cx="733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Execute</a:t>
            </a:r>
            <a:endParaRPr sz="79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F640BEC5-4880-4023-94A7-84661B7D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1242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typed MCP / adapter</a:t>
            </a:r>
            <a:endParaRPr sz="70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2" name="圆角矩形 81">
            <a:extLst xmlns:a="http://schemas.openxmlformats.org/drawingml/2006/main">
              <a:ext uri="{FF2B5EF4-FFF2-40B4-BE49-F238E27FC236}">
                <a16:creationId xmlns:a16="http://schemas.microsoft.com/office/drawing/2014/main" id="{20EF66B3-F6AE-4439-B7F4-78436E08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90925"/>
            <a:ext cx="22669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2CDECB60-19C3-4E38-8148-AB18F5EB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57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715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4" name="矩形 83">
            <a:extLst xmlns:a="http://schemas.openxmlformats.org/drawingml/2006/main">
              <a:ext uri="{FF2B5EF4-FFF2-40B4-BE49-F238E27FC236}">
                <a16:creationId xmlns:a16="http://schemas.microsoft.com/office/drawing/2014/main" id="{33F1CBED-F58E-4BB4-BE96-CD99BFDC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619500"/>
            <a:ext cx="733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Verify</a:t>
            </a:r>
            <a:endParaRPr sz="79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D5D66D65-4433-41BB-88E8-6FE91128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6195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independent oracle</a:t>
            </a:r>
            <a:endParaRPr sz="70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6" name="圆角矩形 85">
            <a:extLst xmlns:a="http://schemas.openxmlformats.org/drawingml/2006/main">
              <a:ext uri="{FF2B5EF4-FFF2-40B4-BE49-F238E27FC236}">
                <a16:creationId xmlns:a16="http://schemas.microsoft.com/office/drawing/2014/main" id="{6BD65D80-9EB4-40D2-81C5-03666A27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86225"/>
            <a:ext cx="22669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87" name="矩形 86">
            <a:extLst xmlns:a="http://schemas.openxmlformats.org/drawingml/2006/main">
              <a:ext uri="{FF2B5EF4-FFF2-40B4-BE49-F238E27FC236}">
                <a16:creationId xmlns:a16="http://schemas.microsoft.com/office/drawing/2014/main" id="{F2D31E82-E355-47BB-8C91-3F5D7123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52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715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8" name="矩形 87">
            <a:extLst xmlns:a="http://schemas.openxmlformats.org/drawingml/2006/main">
              <a:ext uri="{FF2B5EF4-FFF2-40B4-BE49-F238E27FC236}">
                <a16:creationId xmlns:a16="http://schemas.microsoft.com/office/drawing/2014/main" id="{D8F17514-FD67-4EB7-9308-67040093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14800"/>
            <a:ext cx="733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Release</a:t>
            </a:r>
            <a:endParaRPr sz="79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9" name="矩形 88">
            <a:extLst xmlns:a="http://schemas.openxmlformats.org/drawingml/2006/main">
              <a:ext uri="{FF2B5EF4-FFF2-40B4-BE49-F238E27FC236}">
                <a16:creationId xmlns:a16="http://schemas.microsoft.com/office/drawing/2014/main" id="{00081D17-0496-42DB-882A-6DA890B2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1148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canary / rollback / retire</a:t>
            </a:r>
            <a:endParaRPr sz="70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cxnSp>
        <p:nvCxnSpPr>
          <p:cNvPr id="579" name="直接箭头连接符 158"/>
          <p:cNvCxnSpPr>
            <a:stCxn xmlns:a="http://schemas.openxmlformats.org/drawingml/2006/main" id="41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1933575" y="2305050"/>
            <a:ext cx="390525" cy="1052513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4A3B8"/>
            </a:solidFill>
            <a:prstDash val="solid"/>
            <a:headEnd type="arrow" w="sm" len="sm"/>
          </a:ln>
        </p:spPr>
      </p:cxnSp>
      <p:cxnSp>
        <p:nvCxnSpPr>
          <p:cNvPr id="580" name="直接箭头连接符 159"/>
          <p:cNvCxnSpPr>
            <a:stCxn xmlns:a="http://schemas.openxmlformats.org/drawingml/2006/main" id="42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1933575" y="2819400"/>
            <a:ext cx="390525" cy="538163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4A3B8"/>
            </a:solidFill>
            <a:prstDash val="solid"/>
            <a:headEnd type="arrow" w="sm" len="sm"/>
          </a:ln>
        </p:spPr>
      </p:cxnSp>
      <p:cxnSp>
        <p:nvCxnSpPr>
          <p:cNvPr id="581" name="直接箭头连接符 160"/>
          <p:cNvCxnSpPr>
            <a:stCxn xmlns:a="http://schemas.openxmlformats.org/drawingml/2006/main" id="43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1933575" y="3333750"/>
            <a:ext cx="390525" cy="23813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4A3B8"/>
            </a:solidFill>
            <a:prstDash val="solid"/>
            <a:headEnd type="arrow" w="sm" len="sm"/>
          </a:ln>
        </p:spPr>
      </p:cxnSp>
      <p:cxnSp>
        <p:nvCxnSpPr>
          <p:cNvPr id="582" name="直接箭头连接符 161"/>
          <p:cNvCxnSpPr>
            <a:stCxn xmlns:a="http://schemas.openxmlformats.org/drawingml/2006/main" id="44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 flipV="1">
            <a:off x="1933575" y="3357563"/>
            <a:ext cx="390525" cy="490538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4A3B8"/>
            </a:solidFill>
            <a:prstDash val="solid"/>
            <a:headEnd type="arrow" w="sm" len="sm"/>
          </a:ln>
        </p:spPr>
      </p:cxnSp>
      <p:cxnSp>
        <p:nvCxnSpPr>
          <p:cNvPr id="583" name="直接箭头连接符 162"/>
          <p:cNvCxnSpPr>
            <a:stCxn xmlns:a="http://schemas.openxmlformats.org/drawingml/2006/main" id="45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 flipV="1">
            <a:off x="1933575" y="3357563"/>
            <a:ext cx="390525" cy="1004888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95" name="直接连接符 94">
            <a:extLst xmlns:a="http://schemas.openxmlformats.org/drawingml/2006/main">
              <a:ext uri="{FF2B5EF4-FFF2-40B4-BE49-F238E27FC236}">
                <a16:creationId xmlns:a16="http://schemas.microsoft.com/office/drawing/2014/main" id="{391E277F-0872-40C4-B3A9-39131793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352800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6" name="直接连接符 95">
            <a:extLst xmlns:a="http://schemas.openxmlformats.org/drawingml/2006/main">
              <a:ext uri="{FF2B5EF4-FFF2-40B4-BE49-F238E27FC236}">
                <a16:creationId xmlns:a16="http://schemas.microsoft.com/office/drawing/2014/main" id="{071560BB-06B5-403B-99BA-FD76673A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52800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7" name="矩形 96">
            <a:extLst xmlns:a="http://schemas.openxmlformats.org/drawingml/2006/main">
              <a:ext uri="{FF2B5EF4-FFF2-40B4-BE49-F238E27FC236}">
                <a16:creationId xmlns:a16="http://schemas.microsoft.com/office/drawing/2014/main" id="{EEE141F4-F6F2-4BC3-BE66-2077EE2B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772025"/>
            <a:ext cx="906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84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4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Closure = collaboration trace · RXP ledger root · raw artifact digests · independent review</a:t>
            </a:r>
            <a:endParaRPr sz="840" b="1" i="0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8" name="圆角矩形 97">
            <a:extLst xmlns:a="http://schemas.openxmlformats.org/drawingml/2006/main">
              <a:ext uri="{FF2B5EF4-FFF2-40B4-BE49-F238E27FC236}">
                <a16:creationId xmlns:a16="http://schemas.microsoft.com/office/drawing/2014/main" id="{639289F9-A82A-4266-8820-92756306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67325"/>
            <a:ext cx="1952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PostgreSQL primary · SQLite dev</a:t>
            </a:r>
            <a:endParaRPr sz="690" b="1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9" name="圆角矩形 98">
            <a:extLst xmlns:a="http://schemas.openxmlformats.org/drawingml/2006/main">
              <a:ext uri="{FF2B5EF4-FFF2-40B4-BE49-F238E27FC236}">
                <a16:creationId xmlns:a16="http://schemas.microsoft.com/office/drawing/2014/main" id="{31979B49-9EFF-41AD-8012-C66C873B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267325"/>
            <a:ext cx="1952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append-only evidence</a:t>
            </a:r>
            <a:endParaRPr sz="690" b="1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0" name="圆角矩形 99">
            <a:extLst xmlns:a="http://schemas.openxmlformats.org/drawingml/2006/main">
              <a:ext uri="{FF2B5EF4-FFF2-40B4-BE49-F238E27FC236}">
                <a16:creationId xmlns:a16="http://schemas.microsoft.com/office/drawing/2014/main" id="{718051BF-0706-49C2-88F8-48AC2DD6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67325"/>
            <a:ext cx="1952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correlated trace</a:t>
            </a:r>
            <a:endParaRPr sz="690" b="1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1" name="圆角矩形 100">
            <a:extLst xmlns:a="http://schemas.openxmlformats.org/drawingml/2006/main">
              <a:ext uri="{FF2B5EF4-FFF2-40B4-BE49-F238E27FC236}">
                <a16:creationId xmlns:a16="http://schemas.microsoft.com/office/drawing/2014/main" id="{9429DC28-EC07-4CCE-A4FC-43478CD4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267325"/>
            <a:ext cx="1952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versioned Skills</a:t>
            </a:r>
            <a:endParaRPr sz="690" b="1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2" name="圆角矩形 101">
            <a:extLst xmlns:a="http://schemas.openxmlformats.org/drawingml/2006/main">
              <a:ext uri="{FF2B5EF4-FFF2-40B4-BE49-F238E27FC236}">
                <a16:creationId xmlns:a16="http://schemas.microsoft.com/office/drawing/2014/main" id="{BAE16DD7-AD7B-40C5-81C0-62CE2220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267325"/>
            <a:ext cx="1952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honest adapters</a:t>
            </a:r>
            <a:endParaRPr sz="69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3" name="矩形 102">
            <a:extLst xmlns:a="http://schemas.openxmlformats.org/drawingml/2006/main">
              <a:ext uri="{FF2B5EF4-FFF2-40B4-BE49-F238E27FC236}">
                <a16:creationId xmlns:a16="http://schemas.microsoft.com/office/drawing/2014/main" id="{0AAECA1A-6F2D-4206-80F1-86B5CE09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29275"/>
            <a:ext cx="1068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7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7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contract + local PG 可重放；official AgentTeams / GPU / PolarDB / PITR = NOT RUN</a:t>
            </a:r>
            <a:endParaRPr sz="77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6151141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907074B-4C77-4552-8404-FD7963FA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协议 · RXP/1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D81FB40-2DD2-4945-B1D1-D2618B7D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29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RXP/1：一次授权与可验收因果链</a:t>
            </a:r>
            <a:endParaRPr sz="29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5EA5EABF-9D17-4BD9-AA44-D84A08AC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90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90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F3F998AD-EFC3-435F-9457-6CE708DD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9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它不替代 MCP / A2A / PROV / MLflow；它补齐“谁可跑哪一格、该交什么证据、何时可下结论”。</a:t>
            </a:r>
            <a:endParaRPr sz="109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2E30D1FD-0E9B-4067-A2A5-6DDCBC79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44345"/>
            <a:ext cx="11144250" cy="4457700"/>
          </a:xfrm>
          <a:prstGeom xmlns:a="http://schemas.openxmlformats.org/drawingml/2006/main" prst="roundRect">
            <a:avLst>
              <a:gd name="adj" fmla="val 341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3192A94E-966B-49B9-BB6B-A36D1D84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rPr>
              <a:t>HUMAN</a:t>
            </a:r>
            <a:endParaRPr sz="715" b="1" i="0">
              <a:solidFill>
                <a:srgbClr val="94A3B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圆角矩形 40">
            <a:extLst xmlns:a="http://schemas.openxmlformats.org/drawingml/2006/main">
              <a:ext uri="{FF2B5EF4-FFF2-40B4-BE49-F238E27FC236}">
                <a16:creationId xmlns:a16="http://schemas.microsoft.com/office/drawing/2014/main" id="{EB8E1E7A-6F51-4A30-A20E-B6356EEC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33600"/>
            <a:ext cx="1238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EB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Researcher</a:t>
            </a:r>
            <a:endParaRPr sz="790" b="1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93E9B313-7A30-4397-9882-BEAEA7AC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47950"/>
            <a:ext cx="1238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Approver</a:t>
            </a:r>
            <a:endParaRPr sz="79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4AE3CECD-F420-421A-BD7C-F9FDCD03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62300"/>
            <a:ext cx="1238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Judge replay</a:t>
            </a:r>
            <a:endParaRPr sz="79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4" name="圆角矩形 43">
            <a:extLst xmlns:a="http://schemas.openxmlformats.org/drawingml/2006/main">
              <a:ext uri="{FF2B5EF4-FFF2-40B4-BE49-F238E27FC236}">
                <a16:creationId xmlns:a16="http://schemas.microsoft.com/office/drawing/2014/main" id="{80B9B6A2-5F39-47FA-8446-38BF9BFA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76650"/>
            <a:ext cx="1238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Reviewer</a:t>
            </a:r>
            <a:endParaRPr sz="79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096DC7E6-BB41-447F-9117-D2770295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91000"/>
            <a:ext cx="1238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Operator</a:t>
            </a:r>
            <a:endParaRPr sz="79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42F75B6C-7081-479D-B6EE-8D492D74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85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rPr>
              <a:t>COLLABORATION CONTEXT · TASK / RUN / CELL CORRELATION</a:t>
            </a:r>
            <a:endParaRPr sz="715" b="1" i="0">
              <a:solidFill>
                <a:srgbClr val="94A3B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82925637-6D42-4D83-8F44-09B9192B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05025"/>
            <a:ext cx="3638550" cy="2505075"/>
          </a:xfrm>
          <a:prstGeom xmlns:a="http://schemas.openxmlformats.org/drawingml/2006/main" prst="roundRect">
            <a:avLst>
              <a:gd name="adj" fmla="val 6084"/>
            </a:avLst>
          </a:prstGeom>
          <a:solidFill xmlns:a="http://schemas.openxmlformats.org/drawingml/2006/main">
            <a:srgbClr val="1B1F3B"/>
          </a:solidFill>
          <a:ln xmlns:a="http://schemas.openxmlformats.org/drawingml/2006/main" w="0">
            <a:solidFill>
              <a:srgbClr val="1B1F3B"/>
            </a:solidFill>
            <a:prstDash val="solid"/>
          </a:ln>
        </p:spPr>
      </p:sp>
      <p:sp>
        <p:nvSpPr>
          <p:cNvPr id="48" name="圆角矩形 47">
            <a:extLst xmlns:a="http://schemas.openxmlformats.org/drawingml/2006/main">
              <a:ext uri="{FF2B5EF4-FFF2-40B4-BE49-F238E27FC236}">
                <a16:creationId xmlns:a16="http://schemas.microsoft.com/office/drawing/2014/main" id="{1AF60FE3-9A4D-4BD4-AEB1-97387F2E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247900"/>
            <a:ext cx="14763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2A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AgentTeams Manager</a:t>
            </a:r>
            <a:endParaRPr sz="825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6366D5D6-7962-4107-9B98-114DA5B9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527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50" b="0" i="0">
                <a:solidFill>
                  <a:srgbClr val="BFC9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 i="0">
                <a:solidFill>
                  <a:srgbClr val="BFC9E5"/>
                </a:solidFill>
                <a:latin typeface="Noto Sans CJK SC"/>
                <a:ea typeface="Noto Sans CJK SC"/>
                <a:cs typeface="Noto Sans CJK SC"/>
              </a:rPr>
              <a:t>把 Project / Task / Artifact 映射到同一 RXP run</a:t>
            </a:r>
            <a:endParaRPr sz="750" b="0" i="0">
              <a:solidFill>
                <a:srgbClr val="BFC9E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0" name="圆角矩形 49">
            <a:extLst xmlns:a="http://schemas.openxmlformats.org/drawingml/2006/main">
              <a:ext uri="{FF2B5EF4-FFF2-40B4-BE49-F238E27FC236}">
                <a16:creationId xmlns:a16="http://schemas.microsoft.com/office/drawing/2014/main" id="{FAC2CE25-F531-46F6-B8F1-F9E87F71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05125"/>
            <a:ext cx="14382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6304F"/>
          </a:solidFill>
          <a:ln xmlns:a="http://schemas.openxmlformats.org/drawingml/2006/main" w="9525">
            <a:solidFill>
              <a:srgbClr val="465173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Scout</a:t>
            </a:r>
            <a:endParaRPr sz="80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1" name="圆角矩形 50">
            <a:extLst xmlns:a="http://schemas.openxmlformats.org/drawingml/2006/main">
              <a:ext uri="{FF2B5EF4-FFF2-40B4-BE49-F238E27FC236}">
                <a16:creationId xmlns:a16="http://schemas.microsoft.com/office/drawing/2014/main" id="{45E874DB-4CAA-4DD6-B0E2-5AEEED87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905125"/>
            <a:ext cx="14382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6304F"/>
          </a:solidFill>
          <a:ln xmlns:a="http://schemas.openxmlformats.org/drawingml/2006/main" w="9525">
            <a:solidFill>
              <a:srgbClr val="465173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Architect</a:t>
            </a:r>
            <a:endParaRPr sz="80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2" name="圆角矩形 51">
            <a:extLst xmlns:a="http://schemas.openxmlformats.org/drawingml/2006/main">
              <a:ext uri="{FF2B5EF4-FFF2-40B4-BE49-F238E27FC236}">
                <a16:creationId xmlns:a16="http://schemas.microsoft.com/office/drawing/2014/main" id="{CF942107-3E99-4C00-B1EA-B9B570B4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81375"/>
            <a:ext cx="14382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6304F"/>
          </a:solidFill>
          <a:ln xmlns:a="http://schemas.openxmlformats.org/drawingml/2006/main" w="9525">
            <a:solidFill>
              <a:srgbClr val="465173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Runtime</a:t>
            </a:r>
            <a:endParaRPr sz="80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圆角矩形 52">
            <a:extLst xmlns:a="http://schemas.openxmlformats.org/drawingml/2006/main">
              <a:ext uri="{FF2B5EF4-FFF2-40B4-BE49-F238E27FC236}">
                <a16:creationId xmlns:a16="http://schemas.microsoft.com/office/drawing/2014/main" id="{9B8D0D6A-809E-45C3-94E5-DB2E6E4F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81375"/>
            <a:ext cx="14382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6304F"/>
          </a:solidFill>
          <a:ln xmlns:a="http://schemas.openxmlformats.org/drawingml/2006/main" w="9525">
            <a:solidFill>
              <a:srgbClr val="465173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Evaluator</a:t>
            </a:r>
            <a:endParaRPr sz="80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6DD2C7FD-048E-484C-B478-49C18B17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857625"/>
            <a:ext cx="14382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A2430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Reviewer</a:t>
            </a:r>
            <a:endParaRPr sz="80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5" name="圆角矩形 54">
            <a:extLst xmlns:a="http://schemas.openxmlformats.org/drawingml/2006/main">
              <a:ext uri="{FF2B5EF4-FFF2-40B4-BE49-F238E27FC236}">
                <a16:creationId xmlns:a16="http://schemas.microsoft.com/office/drawing/2014/main" id="{0015C2D8-596D-4FF6-AC7A-5DDF692B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857625"/>
            <a:ext cx="14382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6304F"/>
          </a:solidFill>
          <a:ln xmlns:a="http://schemas.openxmlformats.org/drawingml/2006/main" w="9525">
            <a:solidFill>
              <a:srgbClr val="465173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Memory</a:t>
            </a:r>
            <a:endParaRPr sz="80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D7843E1C-B306-40FD-920F-FF391044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391025"/>
            <a:ext cx="3257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00" b="0" i="0">
                <a:solidFill>
                  <a:srgbClr val="AEBBD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0" i="0">
                <a:solidFill>
                  <a:srgbClr val="AEBBD8"/>
                </a:solidFill>
                <a:latin typeface="Noto Sans CJK SC"/>
                <a:ea typeface="Noto Sans CJK SC"/>
                <a:cs typeface="Noto Sans CJK SC"/>
              </a:rPr>
              <a:t>room 只传 rxp:// 引用；验证器读取 canonical documents</a:t>
            </a:r>
            <a:endParaRPr sz="700" b="0" i="0">
              <a:solidFill>
                <a:srgbClr val="AEBB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1D1D9CF6-7EF1-480D-AA3D-B828B000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05025"/>
            <a:ext cx="2381250" cy="250507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58" name="圆角矩形 57">
            <a:extLst xmlns:a="http://schemas.openxmlformats.org/drawingml/2006/main">
              <a:ext uri="{FF2B5EF4-FFF2-40B4-BE49-F238E27FC236}">
                <a16:creationId xmlns:a16="http://schemas.microsoft.com/office/drawing/2014/main" id="{2579BC7C-2C74-4F01-ACFA-3E3D84F3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57425"/>
            <a:ext cx="11430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RXP CAUSAL CHAIN</a:t>
            </a:r>
            <a:endParaRPr sz="675" b="1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AA027D9D-4153-4FAA-8AF7-2D25C153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43175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canonical JSON + append-only ledger</a:t>
            </a:r>
            <a:endParaRPr sz="157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0" name="椭圆 59">
            <a:extLst xmlns:a="http://schemas.openxmlformats.org/drawingml/2006/main">
              <a:ext uri="{FF2B5EF4-FFF2-40B4-BE49-F238E27FC236}">
                <a16:creationId xmlns:a16="http://schemas.microsoft.com/office/drawing/2014/main" id="{A0C1B876-48B0-43DA-9C5B-8B6C0D6B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9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7A6768BE-2676-4AD7-85DE-FB557449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241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Intent / MatrixPlan</a:t>
            </a:r>
            <a:endParaRPr sz="81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2" name="椭圆 61">
            <a:extLst xmlns:a="http://schemas.openxmlformats.org/drawingml/2006/main">
              <a:ext uri="{FF2B5EF4-FFF2-40B4-BE49-F238E27FC236}">
                <a16:creationId xmlns:a16="http://schemas.microsoft.com/office/drawing/2014/main" id="{5BA93FCD-7C37-4889-9274-3AFE91AF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302F3829-1AB7-48BB-A007-C9551F34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480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Grant / exact scope</a:t>
            </a:r>
            <a:endParaRPr sz="81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4" name="椭圆 63">
            <a:extLst xmlns:a="http://schemas.openxmlformats.org/drawingml/2006/main">
              <a:ext uri="{FF2B5EF4-FFF2-40B4-BE49-F238E27FC236}">
                <a16:creationId xmlns:a16="http://schemas.microsoft.com/office/drawing/2014/main" id="{5F6242C8-BA66-43B9-AA80-0FE42938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57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24CF5400-AEC0-402E-9795-79690E50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718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Receipt / Evidence</a:t>
            </a:r>
            <a:endParaRPr sz="81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6" name="椭圆 65">
            <a:extLst xmlns:a="http://schemas.openxmlformats.org/drawingml/2006/main">
              <a:ext uri="{FF2B5EF4-FFF2-40B4-BE49-F238E27FC236}">
                <a16:creationId xmlns:a16="http://schemas.microsoft.com/office/drawing/2014/main" id="{805C0706-9A22-49A5-A5C4-C5576035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81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B514D404-249F-4D60-835F-3DD1F60E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957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Decision / root</a:t>
            </a:r>
            <a:endParaRPr sz="81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48C807DB-AC04-499C-84EB-6D5B97D3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86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Grant 绑定 plan · cell · budget · expiry · nonce</a:t>
            </a:r>
            <a:endParaRPr sz="7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B422BB92-6C1B-48C0-B6FF-819D7C9C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8859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rPr>
              <a:t>REFERENCE IMPLEMENTATION</a:t>
            </a:r>
            <a:endParaRPr sz="715" b="1" i="0">
              <a:solidFill>
                <a:srgbClr val="94A3B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0" name="圆角矩形 69">
            <a:extLst xmlns:a="http://schemas.openxmlformats.org/drawingml/2006/main">
              <a:ext uri="{FF2B5EF4-FFF2-40B4-BE49-F238E27FC236}">
                <a16:creationId xmlns:a16="http://schemas.microsoft.com/office/drawing/2014/main" id="{065E5CDC-ABF2-48ED-AE9B-078B09BA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05025"/>
            <a:ext cx="22669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002784AE-73E8-4863-981A-E60BB87A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717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715" b="1" i="0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9620F7A9-7F06-4106-8824-860BEA1B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33600"/>
            <a:ext cx="733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Schema</a:t>
            </a:r>
            <a:endParaRPr sz="79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292EFA87-FBF7-4537-95F9-129F02E1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1336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7 JSON Schemas</a:t>
            </a:r>
            <a:endParaRPr sz="70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4" name="圆角矩形 73">
            <a:extLst xmlns:a="http://schemas.openxmlformats.org/drawingml/2006/main">
              <a:ext uri="{FF2B5EF4-FFF2-40B4-BE49-F238E27FC236}">
                <a16:creationId xmlns:a16="http://schemas.microsoft.com/office/drawing/2014/main" id="{CCB6277A-23C2-4DC1-86A5-4C30627A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00325"/>
            <a:ext cx="22669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AFC7"/>
            </a:solidFill>
            <a:prstDash val="solid"/>
          </a:ln>
        </p:spPr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0B9F80CF-1BCF-4195-8F3C-5275BF19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670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715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A49F1990-80CB-405A-A7E2-CEE93A5C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28900"/>
            <a:ext cx="733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Signer</a:t>
            </a:r>
            <a:endParaRPr sz="79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E1D9CCB1-6638-4F68-8225-C7A49B15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6289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HMAC demo · production trust NONE</a:t>
            </a:r>
            <a:endParaRPr sz="70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8" name="圆角矩形 77">
            <a:extLst xmlns:a="http://schemas.openxmlformats.org/drawingml/2006/main">
              <a:ext uri="{FF2B5EF4-FFF2-40B4-BE49-F238E27FC236}">
                <a16:creationId xmlns:a16="http://schemas.microsoft.com/office/drawing/2014/main" id="{14302A79-0E26-43B2-A677-115AD3B0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95625"/>
            <a:ext cx="22669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86FB0A9A-EE35-46F5-9CAD-9C1443BE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623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715" b="1" i="0">
              <a:solidFill>
                <a:srgbClr val="D9770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21999327-EE43-48AB-8859-9FF707D3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24200"/>
            <a:ext cx="733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Ledger</a:t>
            </a:r>
            <a:endParaRPr sz="79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F640BEC5-4880-4023-94A7-84661B7D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1242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23 append-only entries</a:t>
            </a:r>
            <a:endParaRPr sz="70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2" name="圆角矩形 81">
            <a:extLst xmlns:a="http://schemas.openxmlformats.org/drawingml/2006/main">
              <a:ext uri="{FF2B5EF4-FFF2-40B4-BE49-F238E27FC236}">
                <a16:creationId xmlns:a16="http://schemas.microsoft.com/office/drawing/2014/main" id="{20EF66B3-F6AE-4439-B7F4-78436E08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90925"/>
            <a:ext cx="22669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2CDECB60-19C3-4E38-8148-AB18F5EB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57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715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4" name="矩形 83">
            <a:extLst xmlns:a="http://schemas.openxmlformats.org/drawingml/2006/main">
              <a:ext uri="{FF2B5EF4-FFF2-40B4-BE49-F238E27FC236}">
                <a16:creationId xmlns:a16="http://schemas.microsoft.com/office/drawing/2014/main" id="{33F1CBED-F58E-4BB4-BE96-CD99BFDC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619500"/>
            <a:ext cx="733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Matrix</a:t>
            </a:r>
            <a:endParaRPr sz="79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D5D66D65-4433-41BB-88E8-6FE91128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6195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2 / 2 cells COMPLETE</a:t>
            </a:r>
            <a:endParaRPr sz="70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6" name="圆角矩形 85">
            <a:extLst xmlns:a="http://schemas.openxmlformats.org/drawingml/2006/main">
              <a:ext uri="{FF2B5EF4-FFF2-40B4-BE49-F238E27FC236}">
                <a16:creationId xmlns:a16="http://schemas.microsoft.com/office/drawing/2014/main" id="{6BD65D80-9EB4-40D2-81C5-03666A27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86225"/>
            <a:ext cx="22669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87" name="矩形 86">
            <a:extLst xmlns:a="http://schemas.openxmlformats.org/drawingml/2006/main">
              <a:ext uri="{FF2B5EF4-FFF2-40B4-BE49-F238E27FC236}">
                <a16:creationId xmlns:a16="http://schemas.microsoft.com/office/drawing/2014/main" id="{F2D31E82-E355-47BB-8C91-3F5D7123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52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715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8" name="矩形 87">
            <a:extLst xmlns:a="http://schemas.openxmlformats.org/drawingml/2006/main">
              <a:ext uri="{FF2B5EF4-FFF2-40B4-BE49-F238E27FC236}">
                <a16:creationId xmlns:a16="http://schemas.microsoft.com/office/drawing/2014/main" id="{D8F17514-FD67-4EB7-9308-67040093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14800"/>
            <a:ext cx="733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Verifier</a:t>
            </a:r>
            <a:endParaRPr sz="79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9" name="矩形 88">
            <a:extLst xmlns:a="http://schemas.openxmlformats.org/drawingml/2006/main">
              <a:ext uri="{FF2B5EF4-FFF2-40B4-BE49-F238E27FC236}">
                <a16:creationId xmlns:a16="http://schemas.microsoft.com/office/drawing/2014/main" id="{00081D17-0496-42DB-882A-6DA890B2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1148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tamper / omission / replay fail closed</a:t>
            </a:r>
            <a:endParaRPr sz="70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cxnSp>
        <p:nvCxnSpPr>
          <p:cNvPr id="579" name="直接箭头连接符 158"/>
          <p:cNvCxnSpPr>
            <a:stCxn xmlns:a="http://schemas.openxmlformats.org/drawingml/2006/main" id="41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1933575" y="2305050"/>
            <a:ext cx="390525" cy="1052513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4A3B8"/>
            </a:solidFill>
            <a:prstDash val="solid"/>
            <a:headEnd type="arrow" w="sm" len="sm"/>
          </a:ln>
        </p:spPr>
      </p:cxnSp>
      <p:cxnSp>
        <p:nvCxnSpPr>
          <p:cNvPr id="580" name="直接箭头连接符 159"/>
          <p:cNvCxnSpPr>
            <a:stCxn xmlns:a="http://schemas.openxmlformats.org/drawingml/2006/main" id="42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1933575" y="2819400"/>
            <a:ext cx="390525" cy="538163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4A3B8"/>
            </a:solidFill>
            <a:prstDash val="solid"/>
            <a:headEnd type="arrow" w="sm" len="sm"/>
          </a:ln>
        </p:spPr>
      </p:cxnSp>
      <p:cxnSp>
        <p:nvCxnSpPr>
          <p:cNvPr id="581" name="直接箭头连接符 160"/>
          <p:cNvCxnSpPr>
            <a:stCxn xmlns:a="http://schemas.openxmlformats.org/drawingml/2006/main" id="43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1933575" y="3333750"/>
            <a:ext cx="390525" cy="23813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4A3B8"/>
            </a:solidFill>
            <a:prstDash val="solid"/>
            <a:headEnd type="arrow" w="sm" len="sm"/>
          </a:ln>
        </p:spPr>
      </p:cxnSp>
      <p:cxnSp>
        <p:nvCxnSpPr>
          <p:cNvPr id="582" name="直接箭头连接符 161"/>
          <p:cNvCxnSpPr>
            <a:stCxn xmlns:a="http://schemas.openxmlformats.org/drawingml/2006/main" id="44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 flipV="1">
            <a:off x="1933575" y="3357563"/>
            <a:ext cx="390525" cy="490538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4A3B8"/>
            </a:solidFill>
            <a:prstDash val="solid"/>
            <a:headEnd type="arrow" w="sm" len="sm"/>
          </a:ln>
        </p:spPr>
      </p:cxnSp>
      <p:cxnSp>
        <p:nvCxnSpPr>
          <p:cNvPr id="583" name="直接箭头连接符 162"/>
          <p:cNvCxnSpPr>
            <a:stCxn xmlns:a="http://schemas.openxmlformats.org/drawingml/2006/main" id="45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 flipV="1">
            <a:off x="1933575" y="3357563"/>
            <a:ext cx="390525" cy="1004888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95" name="直接连接符 94">
            <a:extLst xmlns:a="http://schemas.openxmlformats.org/drawingml/2006/main">
              <a:ext uri="{FF2B5EF4-FFF2-40B4-BE49-F238E27FC236}">
                <a16:creationId xmlns:a16="http://schemas.microsoft.com/office/drawing/2014/main" id="{391E277F-0872-40C4-B3A9-39131793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352800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6" name="直接连接符 95">
            <a:extLst xmlns:a="http://schemas.openxmlformats.org/drawingml/2006/main">
              <a:ext uri="{FF2B5EF4-FFF2-40B4-BE49-F238E27FC236}">
                <a16:creationId xmlns:a16="http://schemas.microsoft.com/office/drawing/2014/main" id="{071560BB-06B5-403B-99BA-FD76673A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52800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7" name="矩形 96">
            <a:extLst xmlns:a="http://schemas.openxmlformats.org/drawingml/2006/main">
              <a:ext uri="{FF2B5EF4-FFF2-40B4-BE49-F238E27FC236}">
                <a16:creationId xmlns:a16="http://schemas.microsoft.com/office/drawing/2014/main" id="{EEE141F4-F6F2-4BC3-BE66-2077EE2B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772025"/>
            <a:ext cx="906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84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4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Decision 只有在 expected cells、receipts、evidence kinds、reviewer independence 全部闭合后生成</a:t>
            </a:r>
            <a:endParaRPr sz="840" b="1" i="0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8" name="圆角矩形 97">
            <a:extLst xmlns:a="http://schemas.openxmlformats.org/drawingml/2006/main">
              <a:ext uri="{FF2B5EF4-FFF2-40B4-BE49-F238E27FC236}">
                <a16:creationId xmlns:a16="http://schemas.microsoft.com/office/drawing/2014/main" id="{639289F9-A82A-4266-8820-92756306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67325"/>
            <a:ext cx="1952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MCP · tools</a:t>
            </a:r>
            <a:endParaRPr sz="690" b="1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9" name="圆角矩形 98">
            <a:extLst xmlns:a="http://schemas.openxmlformats.org/drawingml/2006/main">
              <a:ext uri="{FF2B5EF4-FFF2-40B4-BE49-F238E27FC236}">
                <a16:creationId xmlns:a16="http://schemas.microsoft.com/office/drawing/2014/main" id="{31979B49-9EFF-41AD-8012-C66C873B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267325"/>
            <a:ext cx="1952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A2A · tasks</a:t>
            </a:r>
            <a:endParaRPr sz="690" b="1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0" name="圆角矩形 99">
            <a:extLst xmlns:a="http://schemas.openxmlformats.org/drawingml/2006/main">
              <a:ext uri="{FF2B5EF4-FFF2-40B4-BE49-F238E27FC236}">
                <a16:creationId xmlns:a16="http://schemas.microsoft.com/office/drawing/2014/main" id="{718051BF-0706-49C2-88F8-48AC2DD6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67325"/>
            <a:ext cx="1952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PROV · provenance</a:t>
            </a:r>
            <a:endParaRPr sz="690" b="1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1" name="圆角矩形 100">
            <a:extLst xmlns:a="http://schemas.openxmlformats.org/drawingml/2006/main">
              <a:ext uri="{FF2B5EF4-FFF2-40B4-BE49-F238E27FC236}">
                <a16:creationId xmlns:a16="http://schemas.microsoft.com/office/drawing/2014/main" id="{9429DC28-EC07-4CCE-A4FC-43478CD4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267325"/>
            <a:ext cx="1952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MLflow · tracking</a:t>
            </a:r>
            <a:endParaRPr sz="690" b="1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2" name="圆角矩形 101">
            <a:extLst xmlns:a="http://schemas.openxmlformats.org/drawingml/2006/main">
              <a:ext uri="{FF2B5EF4-FFF2-40B4-BE49-F238E27FC236}">
                <a16:creationId xmlns:a16="http://schemas.microsoft.com/office/drawing/2014/main" id="{BAE16DD7-AD7B-40C5-81C0-62CE2220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267325"/>
            <a:ext cx="1952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RXP · acceptance</a:t>
            </a:r>
            <a:endParaRPr sz="69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3" name="矩形 102">
            <a:extLst xmlns:a="http://schemas.openxmlformats.org/drawingml/2006/main">
              <a:ext uri="{FF2B5EF4-FFF2-40B4-BE49-F238E27FC236}">
                <a16:creationId xmlns:a16="http://schemas.microsoft.com/office/drawing/2014/main" id="{0AAECA1A-6F2D-4206-80F1-86B5CE09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29275"/>
            <a:ext cx="1068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7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7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确定性 fixture：相同输入生成 byte-identical ledger；外部 checkpoint 仍是 production 必需项</a:t>
            </a:r>
            <a:endParaRPr sz="77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6151141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AEF7F39-1C65-4E7A-A20E-B5CA0FAA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AgentTeams · Dynamic collaboration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B3D5124-BF80-4C59-8E82-55A62A55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29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冲突、超时与失败会改变路由</a:t>
            </a:r>
            <a:endParaRPr sz="29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4A7701E1-C1B6-478F-A5C0-4F522A62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6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Bridge 将官方响应、typed Matrix、checkpoint、receipt 与 Decision 绑定同一 run，并可持久化到 PostgreSQL。</a:t>
            </a:r>
            <a:endParaRPr sz="1065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64AD0DDB-9890-4793-A646-FA551BA0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2304415"/>
            <a:ext cx="5283200" cy="2964180"/>
          </a:xfrm>
          <a:prstGeom xmlns:a="http://schemas.openxmlformats.org/drawingml/2006/main" prst="roundRect">
            <a:avLst>
              <a:gd name="adj" fmla="val 5141"/>
            </a:avLst>
          </a:prstGeom>
          <a:solidFill xmlns:a="http://schemas.openxmlformats.org/drawingml/2006/main">
            <a:srgbClr val="0C1B33"/>
          </a:solidFill>
          <a:ln xmlns:a="http://schemas.openxmlformats.org/drawingml/2006/main" w="0">
            <a:solidFill>
              <a:srgbClr val="0C1B33"/>
            </a:solidFill>
            <a:prstDash val="solid"/>
          </a:ln>
        </p:spPr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D657EBF8-0B46-4FA4-8B4A-669BBF72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2437765"/>
            <a:ext cx="10858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2430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PROJECT ROOM</a:t>
            </a:r>
            <a:endParaRPr sz="675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2BEDE353-300D-4A21-B680-26EC492B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270446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Research PI / Manager</a:t>
            </a:r>
            <a:endParaRPr sz="13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FEDF8AEF-247D-49AE-BB07-A90090D4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2961640"/>
            <a:ext cx="497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35" b="0" i="0">
                <a:solidFill>
                  <a:srgbClr val="B8C5D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35" b="0" i="0">
                <a:solidFill>
                  <a:srgbClr val="B8C5DD"/>
                </a:solidFill>
                <a:latin typeface="Noto Sans CJK SC"/>
                <a:ea typeface="Noto Sans CJK SC"/>
                <a:cs typeface="Noto Sans CJK SC"/>
              </a:rPr>
              <a:t>创建 Project · 分解 DAG · 委派 · 接受 · 验证 · 完成</a:t>
            </a:r>
            <a:endParaRPr sz="735" b="0" i="0">
              <a:solidFill>
                <a:srgbClr val="B8C5D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2B31DC84-C1E3-4AA1-B013-96B0A618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3304540"/>
            <a:ext cx="23145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2FEBD3A8-E6CA-4028-887F-19C11626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" y="3380740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660" b="1" i="0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DC3DAD04-5AA6-484B-B0C5-DF2E452F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" y="3323590"/>
            <a:ext cx="1219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Scout</a:t>
            </a:r>
            <a:endParaRPr sz="7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660C934D-2A5C-4A9A-8AF1-C5129D9B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655" y="3323590"/>
            <a:ext cx="71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rPr>
              <a:t>冻结上下文</a:t>
            </a:r>
            <a:endParaRPr sz="675" b="0" i="0">
              <a:solidFill>
                <a:srgbClr val="AFC0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FC519BEB-1770-43D0-BE1C-C1B36FDF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155" y="3304540"/>
            <a:ext cx="23145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B4DC659C-E68A-4A8D-894F-9F840D1E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305" y="3380740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66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11B04CAE-520F-4536-AD64-1A14793F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9955" y="3323590"/>
            <a:ext cx="1219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Architect</a:t>
            </a:r>
            <a:endParaRPr sz="7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52F4EABA-099F-43F5-89F9-EBD90285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3323590"/>
            <a:ext cx="71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rPr>
              <a:t>生成 MatrixPlan</a:t>
            </a:r>
            <a:endParaRPr sz="675" b="0" i="0">
              <a:solidFill>
                <a:srgbClr val="AFC0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1" name="圆角矩形 50">
            <a:extLst xmlns:a="http://schemas.openxmlformats.org/drawingml/2006/main">
              <a:ext uri="{FF2B5EF4-FFF2-40B4-BE49-F238E27FC236}">
                <a16:creationId xmlns:a16="http://schemas.microsoft.com/office/drawing/2014/main" id="{3A25F847-C881-4F3F-8A07-100A6F12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3771265"/>
            <a:ext cx="23145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08AFC7"/>
            </a:solidFill>
            <a:prstDash val="solid"/>
          </a:ln>
        </p:spPr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774CA823-7227-4B75-8DCF-EF0F7899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" y="3847465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660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96E78439-76D0-4C33-B16B-D7FAD4CD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" y="3790315"/>
            <a:ext cx="1219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Runtime</a:t>
            </a:r>
            <a:endParaRPr sz="7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CD03A6CD-4017-4C0B-9D71-7C019E40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655" y="3790315"/>
            <a:ext cx="71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rPr>
              <a:t>领取并执行</a:t>
            </a:r>
            <a:endParaRPr sz="675" b="0" i="0">
              <a:solidFill>
                <a:srgbClr val="AFC0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5" name="圆角矩形 54">
            <a:extLst xmlns:a="http://schemas.openxmlformats.org/drawingml/2006/main">
              <a:ext uri="{FF2B5EF4-FFF2-40B4-BE49-F238E27FC236}">
                <a16:creationId xmlns:a16="http://schemas.microsoft.com/office/drawing/2014/main" id="{3630938D-0ADF-4838-8F8D-323E1E94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155" y="3771265"/>
            <a:ext cx="23145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5661B10C-E633-40EF-BE41-57C832CA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305" y="3847465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660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69D49E0D-10AD-4FC3-B6DC-A3632369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9955" y="3790315"/>
            <a:ext cx="1219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Evaluator</a:t>
            </a:r>
            <a:endParaRPr sz="7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F903DDAC-4579-469A-9AA3-08514318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3790315"/>
            <a:ext cx="71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rPr>
              <a:t>确定性算分</a:t>
            </a:r>
            <a:endParaRPr sz="675" b="0" i="0">
              <a:solidFill>
                <a:srgbClr val="AFC0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9" name="圆角矩形 58">
            <a:extLst xmlns:a="http://schemas.openxmlformats.org/drawingml/2006/main">
              <a:ext uri="{FF2B5EF4-FFF2-40B4-BE49-F238E27FC236}">
                <a16:creationId xmlns:a16="http://schemas.microsoft.com/office/drawing/2014/main" id="{6D917FA7-BBF1-41CB-8F35-CE20CAFC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4237990"/>
            <a:ext cx="23145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CCA829D7-37E4-4D98-A9A3-CD044D79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" y="4314190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660" b="1" i="0">
              <a:solidFill>
                <a:srgbClr val="D9770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65139769-91AC-437D-9BA8-6D78CF26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" y="4257040"/>
            <a:ext cx="1219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Reviewer</a:t>
            </a:r>
            <a:endParaRPr sz="7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99451F8F-59E3-4A77-B27C-C0D5520F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655" y="4257040"/>
            <a:ext cx="71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rPr>
              <a:t>独立质疑</a:t>
            </a:r>
            <a:endParaRPr sz="675" b="0" i="0">
              <a:solidFill>
                <a:srgbClr val="AFC0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3" name="圆角矩形 62">
            <a:extLst xmlns:a="http://schemas.openxmlformats.org/drawingml/2006/main">
              <a:ext uri="{FF2B5EF4-FFF2-40B4-BE49-F238E27FC236}">
                <a16:creationId xmlns:a16="http://schemas.microsoft.com/office/drawing/2014/main" id="{EC78FDDF-5E33-49C2-8AFF-977A633A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155" y="4237990"/>
            <a:ext cx="23145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2C3709D6-B475-4941-B6B8-CDF2F7CF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305" y="4314190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660" b="1" i="0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8AA153B2-9B2D-4D5B-B063-7AA70FE0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9955" y="4257040"/>
            <a:ext cx="1219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Memory candidate</a:t>
            </a:r>
            <a:endParaRPr sz="7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8380801D-0451-430A-BD48-E28E2C0D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4257040"/>
            <a:ext cx="71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rPr>
              <a:t>candidate only</a:t>
            </a:r>
            <a:endParaRPr sz="675" b="0" i="0">
              <a:solidFill>
                <a:srgbClr val="AFC0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C651DAB7-54AB-4E28-B013-2E0D4AB3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4790440"/>
            <a:ext cx="497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304967"/>
            </a:solidFill>
            <a:prstDash val="solid"/>
          </a:ln>
        </p:spPr>
        <p:txBody>
          <a:bodyPr xmlns:a="http://schemas.openxmlformats.org/drawingml/2006/main" lIns="66675" tIns="47625" rIns="66675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70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正常：delegate → accept → execute → verify｜异常：conflict→replan · timeout→reassign · crash→resume</a:t>
            </a:r>
            <a:endParaRPr sz="700" b="1" i="0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8" name="圆角矩形 67">
            <a:extLst xmlns:a="http://schemas.openxmlformats.org/drawingml/2006/main">
              <a:ext uri="{FF2B5EF4-FFF2-40B4-BE49-F238E27FC236}">
                <a16:creationId xmlns:a16="http://schemas.microsoft.com/office/drawing/2014/main" id="{6B9A3C4C-7121-413E-9B52-9A8EE623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9370" y="2304415"/>
            <a:ext cx="5285740" cy="2964180"/>
          </a:xfrm>
          <a:prstGeom xmlns:a="http://schemas.openxmlformats.org/drawingml/2006/main" prst="roundRect">
            <a:avLst>
              <a:gd name="adj" fmla="val 514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69" name="圆角矩形 68">
            <a:extLst xmlns:a="http://schemas.openxmlformats.org/drawingml/2006/main">
              <a:ext uri="{FF2B5EF4-FFF2-40B4-BE49-F238E27FC236}">
                <a16:creationId xmlns:a16="http://schemas.microsoft.com/office/drawing/2014/main" id="{8004EC29-30BA-4F5D-A776-86929B51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2437765"/>
            <a:ext cx="11239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OFFICIAL CONTRACT TRACE</a:t>
            </a:r>
            <a:endParaRPr sz="675" b="1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824DA2F6-4EF9-44A3-BC53-FE66FF20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0970" y="239966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每一步有观察断言</a:t>
            </a:r>
            <a:endParaRPr sz="1200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ADBABCCB-02EA-4F58-B535-62A2FB0F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276161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Create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F578FB82-46AA-470B-A3CF-CAFF3844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45" y="276161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Project API</a:t>
            </a:r>
            <a:endParaRPr sz="67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2583CDED-5F11-449D-A1C1-BF4EAFB2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370" y="276161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必须返回 project_id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4" name="直接连接符 73">
            <a:extLst xmlns:a="http://schemas.openxmlformats.org/drawingml/2006/main">
              <a:ext uri="{FF2B5EF4-FFF2-40B4-BE49-F238E27FC236}">
                <a16:creationId xmlns:a16="http://schemas.microsoft.com/office/drawing/2014/main" id="{C829B28B-8804-4F36-8B35-ABF39B36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028315"/>
            <a:ext cx="4980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6A756D6C-83A8-467A-835B-346569E7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05689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Decompose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A6C9F716-F6E8-48DA-A5CC-78A7AAF8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45" y="305689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Task DAG</a:t>
            </a:r>
            <a:endParaRPr sz="67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A5F23D0A-BD95-499D-821D-F3D44482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370" y="305689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依赖与 expected artifacts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8" name="直接连接符 77">
            <a:extLst xmlns:a="http://schemas.openxmlformats.org/drawingml/2006/main">
              <a:ext uri="{FF2B5EF4-FFF2-40B4-BE49-F238E27FC236}">
                <a16:creationId xmlns:a16="http://schemas.microsoft.com/office/drawing/2014/main" id="{7FB739EA-A98F-4090-8368-847E16BB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323590"/>
            <a:ext cx="4980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959268B9-1984-45DC-8F89-4FFC5367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35216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Delegate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94F189BD-CB87-48C8-8E04-4ECD1ED2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45" y="335216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&gt;=3 Workers</a:t>
            </a:r>
            <a:endParaRPr sz="67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AD824AF9-0EB5-4595-A56C-BC596645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370" y="335216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真实 worker principals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2" name="直接连接符 81">
            <a:extLst xmlns:a="http://schemas.openxmlformats.org/drawingml/2006/main">
              <a:ext uri="{FF2B5EF4-FFF2-40B4-BE49-F238E27FC236}">
                <a16:creationId xmlns:a16="http://schemas.microsoft.com/office/drawing/2014/main" id="{4DFBE7C8-4155-4BA2-B028-A88156F1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618865"/>
            <a:ext cx="4980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CA5837AE-E559-4317-ADE6-A101EAC7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64744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Accept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4" name="矩形 83">
            <a:extLst xmlns:a="http://schemas.openxmlformats.org/drawingml/2006/main">
              <a:ext uri="{FF2B5EF4-FFF2-40B4-BE49-F238E27FC236}">
                <a16:creationId xmlns:a16="http://schemas.microsoft.com/office/drawing/2014/main" id="{8BA7E27D-41ED-43C3-99EC-17320DB8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45" y="364744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assignee state</a:t>
            </a:r>
            <a:endParaRPr sz="67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5CA8622C-CB54-40A7-AD1D-CE726F99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370" y="364744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不是 Manager 自演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6" name="直接连接符 85">
            <a:extLst xmlns:a="http://schemas.openxmlformats.org/drawingml/2006/main">
              <a:ext uri="{FF2B5EF4-FFF2-40B4-BE49-F238E27FC236}">
                <a16:creationId xmlns:a16="http://schemas.microsoft.com/office/drawing/2014/main" id="{DBEE7165-561A-4184-9F67-C31FBCE7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914140"/>
            <a:ext cx="4980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87" name="矩形 86">
            <a:extLst xmlns:a="http://schemas.openxmlformats.org/drawingml/2006/main">
              <a:ext uri="{FF2B5EF4-FFF2-40B4-BE49-F238E27FC236}">
                <a16:creationId xmlns:a16="http://schemas.microsoft.com/office/drawing/2014/main" id="{8B77912F-C173-4E1A-B2A3-8362AFD3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94271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Verify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8" name="矩形 87">
            <a:extLst xmlns:a="http://schemas.openxmlformats.org/drawingml/2006/main">
              <a:ext uri="{FF2B5EF4-FFF2-40B4-BE49-F238E27FC236}">
                <a16:creationId xmlns:a16="http://schemas.microsoft.com/office/drawing/2014/main" id="{39D5F2F2-0CAC-420F-95C0-488D26E3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45" y="394271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Reviewer</a:t>
            </a:r>
            <a:endParaRPr sz="67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9" name="矩形 88">
            <a:extLst xmlns:a="http://schemas.openxmlformats.org/drawingml/2006/main">
              <a:ext uri="{FF2B5EF4-FFF2-40B4-BE49-F238E27FC236}">
                <a16:creationId xmlns:a16="http://schemas.microsoft.com/office/drawing/2014/main" id="{A5E9460E-B767-4C72-B969-6C06A9E4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370" y="394271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与 Runtime 身份分离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CE63147B-DD81-49E2-ADB1-91B33C4A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4209415"/>
            <a:ext cx="4980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91" name="矩形 90">
            <a:extLst xmlns:a="http://schemas.openxmlformats.org/drawingml/2006/main">
              <a:ext uri="{FF2B5EF4-FFF2-40B4-BE49-F238E27FC236}">
                <a16:creationId xmlns:a16="http://schemas.microsoft.com/office/drawing/2014/main" id="{553603D4-F7BF-4100-84A9-51E1B079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423799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Recover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2" name="矩形 91">
            <a:extLst xmlns:a="http://schemas.openxmlformats.org/drawingml/2006/main">
              <a:ext uri="{FF2B5EF4-FFF2-40B4-BE49-F238E27FC236}">
                <a16:creationId xmlns:a16="http://schemas.microsoft.com/office/drawing/2014/main" id="{99E5E4D4-B36D-401F-8E1E-0A1EB797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45" y="423799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replan / reassign</a:t>
            </a:r>
            <a:endParaRPr sz="67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3" name="矩形 92">
            <a:extLst xmlns:a="http://schemas.openxmlformats.org/drawingml/2006/main">
              <a:ext uri="{FF2B5EF4-FFF2-40B4-BE49-F238E27FC236}">
                <a16:creationId xmlns:a16="http://schemas.microsoft.com/office/drawing/2014/main" id="{9B1CE048-680E-418F-91F4-CAFE85E1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370" y="423799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原因进入 trace</a:t>
            </a:r>
            <a:endParaRPr sz="670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4" name="直接连接符 93">
            <a:extLst xmlns:a="http://schemas.openxmlformats.org/drawingml/2006/main">
              <a:ext uri="{FF2B5EF4-FFF2-40B4-BE49-F238E27FC236}">
                <a16:creationId xmlns:a16="http://schemas.microsoft.com/office/drawing/2014/main" id="{B3A75D54-F5EE-4432-8A31-9F6BF02D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4504690"/>
            <a:ext cx="4980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95" name="矩形 94">
            <a:extLst xmlns:a="http://schemas.openxmlformats.org/drawingml/2006/main">
              <a:ext uri="{FF2B5EF4-FFF2-40B4-BE49-F238E27FC236}">
                <a16:creationId xmlns:a16="http://schemas.microsoft.com/office/drawing/2014/main" id="{2F591D0B-9ADE-45B6-B02A-391CCC5D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453326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Finish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6" name="矩形 95">
            <a:extLst xmlns:a="http://schemas.openxmlformats.org/drawingml/2006/main">
              <a:ext uri="{FF2B5EF4-FFF2-40B4-BE49-F238E27FC236}">
                <a16:creationId xmlns:a16="http://schemas.microsoft.com/office/drawing/2014/main" id="{6150BD77-293F-46DE-B033-AD802C04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45" y="453326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Decision</a:t>
            </a:r>
            <a:endParaRPr sz="67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7" name="矩形 96">
            <a:extLst xmlns:a="http://schemas.openxmlformats.org/drawingml/2006/main">
              <a:ext uri="{FF2B5EF4-FFF2-40B4-BE49-F238E27FC236}">
                <a16:creationId xmlns:a16="http://schemas.microsoft.com/office/drawing/2014/main" id="{806E59B0-AFF1-43AE-BB40-C013F806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370" y="453326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绑定 RXP ledger root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8" name="矩形 97">
            <a:extLst xmlns:a="http://schemas.openxmlformats.org/drawingml/2006/main">
              <a:ext uri="{FF2B5EF4-FFF2-40B4-BE49-F238E27FC236}">
                <a16:creationId xmlns:a16="http://schemas.microsoft.com/office/drawing/2014/main" id="{07075BB1-C768-471D-B1F2-15804115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4847590"/>
            <a:ext cx="498094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Trace contract：sequence + previous_hash + event_hash + typed lifecycle + independent review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9" name="矩形 98">
            <a:extLst xmlns:a="http://schemas.openxmlformats.org/drawingml/2006/main">
              <a:ext uri="{FF2B5EF4-FFF2-40B4-BE49-F238E27FC236}">
                <a16:creationId xmlns:a16="http://schemas.microsoft.com/office/drawing/2014/main" id="{204E02AA-B214-4B57-B93D-E190326A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14975"/>
            <a:ext cx="1009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CREATE</a:t>
            </a:r>
            <a:endParaRPr sz="67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93463CE5-2E44-4A68-9788-A35C6102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514975"/>
            <a:ext cx="1028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DECOMPOSE</a:t>
            </a:r>
            <a:endParaRPr sz="65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15B92812-4D73-46CE-803F-D63BB24B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514975"/>
            <a:ext cx="1028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DELEGATE</a:t>
            </a:r>
            <a:endParaRPr sz="65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2" name="矩形 101">
            <a:extLst xmlns:a="http://schemas.openxmlformats.org/drawingml/2006/main">
              <a:ext uri="{FF2B5EF4-FFF2-40B4-BE49-F238E27FC236}">
                <a16:creationId xmlns:a16="http://schemas.microsoft.com/office/drawing/2014/main" id="{4C746EC5-6265-4B1E-A1D3-CDA4451B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514975"/>
            <a:ext cx="1028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ACCEPT</a:t>
            </a:r>
            <a:endParaRPr sz="65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3" name="矩形 102">
            <a:extLst xmlns:a="http://schemas.openxmlformats.org/drawingml/2006/main">
              <a:ext uri="{FF2B5EF4-FFF2-40B4-BE49-F238E27FC236}">
                <a16:creationId xmlns:a16="http://schemas.microsoft.com/office/drawing/2014/main" id="{939229A9-1DC1-439F-8029-3CDC591A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14975"/>
            <a:ext cx="1028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EXECUTE</a:t>
            </a:r>
            <a:endParaRPr sz="65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4" name="矩形 103">
            <a:extLst xmlns:a="http://schemas.openxmlformats.org/drawingml/2006/main">
              <a:ext uri="{FF2B5EF4-FFF2-40B4-BE49-F238E27FC236}">
                <a16:creationId xmlns:a16="http://schemas.microsoft.com/office/drawing/2014/main" id="{20018525-943B-42B4-829C-506E7B07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514975"/>
            <a:ext cx="1181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EXECUTE</a:t>
            </a:r>
            <a:endParaRPr sz="655" b="1" i="0">
              <a:solidFill>
                <a:srgbClr val="D97706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algn="ctr">
              <a:buNone/>
              <a:defRPr sz="655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RUNTIME</a:t>
            </a:r>
            <a:endParaRPr sz="655" b="1" i="0">
              <a:solidFill>
                <a:srgbClr val="D9770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5" name="矩形 104">
            <a:extLst xmlns:a="http://schemas.openxmlformats.org/drawingml/2006/main">
              <a:ext uri="{FF2B5EF4-FFF2-40B4-BE49-F238E27FC236}">
                <a16:creationId xmlns:a16="http://schemas.microsoft.com/office/drawing/2014/main" id="{9F4A60DD-905E-49A0-955A-43EF3E11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14975"/>
            <a:ext cx="1028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VERIFY</a:t>
            </a:r>
            <a:endParaRPr sz="65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47DCA0CF-F1BA-4D14-9E43-5CBDC2F0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5514975"/>
            <a:ext cx="1028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BF4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DECIDE</a:t>
            </a:r>
            <a:endParaRPr sz="655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7" name="矩形 106">
            <a:extLst xmlns:a="http://schemas.openxmlformats.org/drawingml/2006/main">
              <a:ext uri="{FF2B5EF4-FFF2-40B4-BE49-F238E27FC236}">
                <a16:creationId xmlns:a16="http://schemas.microsoft.com/office/drawing/2014/main" id="{770AFC2F-BBE8-4432-96A3-E9C0FC5B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5457825"/>
            <a:ext cx="13716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DECIDE →</a:t>
            </a:r>
            <a:endParaRPr sz="655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algn="ctr">
              <a:buNone/>
              <a:defRPr sz="65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MEMORY</a:t>
            </a:r>
            <a:endParaRPr sz="655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8" name="矩形 107">
            <a:extLst xmlns:a="http://schemas.openxmlformats.org/drawingml/2006/main">
              <a:ext uri="{FF2B5EF4-FFF2-40B4-BE49-F238E27FC236}">
                <a16:creationId xmlns:a16="http://schemas.microsoft.com/office/drawing/2014/main" id="{FB34B2C0-1D2B-4D7C-91AA-F0D19CBE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95975"/>
            <a:ext cx="10715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3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3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共享：project_id · task_id · rxp_run_id · cell_id · trace_id · evidence_root</a:t>
            </a:r>
            <a:endParaRPr sz="73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9" name="矩形 108">
            <a:extLst xmlns:a="http://schemas.openxmlformats.org/drawingml/2006/main">
              <a:ext uri="{FF2B5EF4-FFF2-40B4-BE49-F238E27FC236}">
                <a16:creationId xmlns:a16="http://schemas.microsoft.com/office/drawing/2014/main" id="{B3F0FCE7-D102-4179-8636-EDDFCFE3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172200"/>
            <a:ext cx="881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0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bridge + PostgreSQL contracts 已验证；official service / Matrix / GPU 未实跑，target 必须 SKIP</a:t>
            </a:r>
            <a:endParaRPr sz="700" b="1" i="0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1965541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AEF7F39-1C65-4E7A-A20E-B5CA0FAA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Authority · Separation of duties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B3D5124-BF80-4C59-8E82-55A62A55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29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同一 Agent 不得自评自证</a:t>
            </a:r>
            <a:endParaRPr sz="29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4A7701E1-C1B6-478F-A5C0-4F522A62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6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至少 3 个真实 principal；R2 / R3 必须停在人类 checkpoint，恢复后仍沿用同一 correlation chain。</a:t>
            </a:r>
            <a:endParaRPr sz="1065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64AD0DDB-9890-4793-A646-FA551BA0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2304415"/>
            <a:ext cx="5283200" cy="2964180"/>
          </a:xfrm>
          <a:prstGeom xmlns:a="http://schemas.openxmlformats.org/drawingml/2006/main" prst="roundRect">
            <a:avLst>
              <a:gd name="adj" fmla="val 5141"/>
            </a:avLst>
          </a:prstGeom>
          <a:solidFill xmlns:a="http://schemas.openxmlformats.org/drawingml/2006/main">
            <a:srgbClr val="0C1B33"/>
          </a:solidFill>
          <a:ln xmlns:a="http://schemas.openxmlformats.org/drawingml/2006/main" w="0">
            <a:solidFill>
              <a:srgbClr val="0C1B33"/>
            </a:solidFill>
            <a:prstDash val="solid"/>
          </a:ln>
        </p:spPr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D657EBF8-0B46-4FA4-8B4A-669BBF72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2437765"/>
            <a:ext cx="10858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2430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PRINCIPAL MAP</a:t>
            </a:r>
            <a:endParaRPr sz="675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2BEDE353-300D-4A21-B680-26EC492B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270446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&gt;=3 distinct identities</a:t>
            </a:r>
            <a:endParaRPr sz="13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FEDF8AEF-247D-49AE-BB07-A90090D4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2961640"/>
            <a:ext cx="497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35" b="0" i="0">
                <a:solidFill>
                  <a:srgbClr val="B8C5D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35" b="0" i="0">
                <a:solidFill>
                  <a:srgbClr val="B8C5DD"/>
                </a:solidFill>
                <a:latin typeface="Noto Sans CJK SC"/>
                <a:ea typeface="Noto Sans CJK SC"/>
                <a:cs typeface="Noto Sans CJK SC"/>
              </a:rPr>
              <a:t>权限边界先于模型能力</a:t>
            </a:r>
            <a:endParaRPr sz="735" b="0" i="0">
              <a:solidFill>
                <a:srgbClr val="B8C5D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2B31DC84-C1E3-4AA1-B013-96B0A618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3304540"/>
            <a:ext cx="23145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2FEBD3A8-E6CA-4028-887F-19C11626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" y="3380740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MGR</a:t>
            </a:r>
            <a:endParaRPr sz="660" b="1" i="0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DC3DAD04-5AA6-484B-B0C5-DF2E452F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" y="3323590"/>
            <a:ext cx="1219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Manager</a:t>
            </a:r>
            <a:endParaRPr sz="7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660C934D-2A5C-4A9A-8AF1-C5129D9B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655" y="3323590"/>
            <a:ext cx="71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rPr>
              <a:t>route / merge</a:t>
            </a:r>
            <a:endParaRPr sz="675" b="0" i="0">
              <a:solidFill>
                <a:srgbClr val="AFC0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FC519BEB-1770-43D0-BE1C-C1B36FDF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155" y="3304540"/>
            <a:ext cx="23145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B4DC659C-E68A-4A8D-894F-9F840D1E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305" y="3380740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ARC</a:t>
            </a:r>
            <a:endParaRPr sz="66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11B04CAE-520F-4536-AD64-1A14793F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9955" y="3323590"/>
            <a:ext cx="1219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Architect</a:t>
            </a:r>
            <a:endParaRPr sz="7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52F4EABA-099F-43F5-89F9-EBD90285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3323590"/>
            <a:ext cx="71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rPr>
              <a:t>plan · no approval</a:t>
            </a:r>
            <a:endParaRPr sz="675" b="0" i="0">
              <a:solidFill>
                <a:srgbClr val="AFC0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1" name="圆角矩形 50">
            <a:extLst xmlns:a="http://schemas.openxmlformats.org/drawingml/2006/main">
              <a:ext uri="{FF2B5EF4-FFF2-40B4-BE49-F238E27FC236}">
                <a16:creationId xmlns:a16="http://schemas.microsoft.com/office/drawing/2014/main" id="{3A25F847-C881-4F3F-8A07-100A6F12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3771265"/>
            <a:ext cx="23145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08AFC7"/>
            </a:solidFill>
            <a:prstDash val="solid"/>
          </a:ln>
        </p:spPr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774CA823-7227-4B75-8DCF-EF0F7899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" y="3847465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RUN</a:t>
            </a:r>
            <a:endParaRPr sz="660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96E78439-76D0-4C33-B16B-D7FAD4CD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" y="3790315"/>
            <a:ext cx="1219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Runtime</a:t>
            </a:r>
            <a:endParaRPr sz="7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CD03A6CD-4017-4C0B-9D71-7C019E40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655" y="3790315"/>
            <a:ext cx="71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rPr>
              <a:t>execute · no verdict</a:t>
            </a:r>
            <a:endParaRPr sz="675" b="0" i="0">
              <a:solidFill>
                <a:srgbClr val="AFC0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5" name="圆角矩形 54">
            <a:extLst xmlns:a="http://schemas.openxmlformats.org/drawingml/2006/main">
              <a:ext uri="{FF2B5EF4-FFF2-40B4-BE49-F238E27FC236}">
                <a16:creationId xmlns:a16="http://schemas.microsoft.com/office/drawing/2014/main" id="{3630938D-0ADF-4838-8F8D-323E1E94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155" y="3771265"/>
            <a:ext cx="23145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5661B10C-E633-40EF-BE41-57C832CA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305" y="3847465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EVA</a:t>
            </a:r>
            <a:endParaRPr sz="660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69D49E0D-10AD-4FC3-B6DC-A3632369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9955" y="3790315"/>
            <a:ext cx="1219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Evaluator</a:t>
            </a:r>
            <a:endParaRPr sz="7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F903DDAC-4579-469A-9AA3-08514318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3790315"/>
            <a:ext cx="71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rPr>
              <a:t>metric · no artifact edit</a:t>
            </a:r>
            <a:endParaRPr sz="675" b="0" i="0">
              <a:solidFill>
                <a:srgbClr val="AFC0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9" name="圆角矩形 58">
            <a:extLst xmlns:a="http://schemas.openxmlformats.org/drawingml/2006/main">
              <a:ext uri="{FF2B5EF4-FFF2-40B4-BE49-F238E27FC236}">
                <a16:creationId xmlns:a16="http://schemas.microsoft.com/office/drawing/2014/main" id="{6D917FA7-BBF1-41CB-8F35-CE20CAFC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4237990"/>
            <a:ext cx="23145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CCA829D7-37E4-4D98-A9A3-CD044D79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" y="4314190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REV</a:t>
            </a:r>
            <a:endParaRPr sz="660" b="1" i="0">
              <a:solidFill>
                <a:srgbClr val="D9770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65139769-91AC-437D-9BA8-6D78CF26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" y="4257040"/>
            <a:ext cx="1219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Reviewer</a:t>
            </a:r>
            <a:endParaRPr sz="7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99451F8F-59E3-4A77-B27C-C0D5520F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655" y="4257040"/>
            <a:ext cx="71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rPr>
              <a:t>independent gate</a:t>
            </a:r>
            <a:endParaRPr sz="675" b="0" i="0">
              <a:solidFill>
                <a:srgbClr val="AFC0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3" name="圆角矩形 62">
            <a:extLst xmlns:a="http://schemas.openxmlformats.org/drawingml/2006/main">
              <a:ext uri="{FF2B5EF4-FFF2-40B4-BE49-F238E27FC236}">
                <a16:creationId xmlns:a16="http://schemas.microsoft.com/office/drawing/2014/main" id="{EC78FDDF-5E33-49C2-8AFF-977A633A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155" y="4237990"/>
            <a:ext cx="23145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2C3709D6-B475-4941-B6B8-CDF2F7CF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305" y="4314190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HUM</a:t>
            </a:r>
            <a:endParaRPr sz="660" b="1" i="0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8AA153B2-9B2D-4D5B-B063-7AA70FE0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9955" y="4257040"/>
            <a:ext cx="1219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Human</a:t>
            </a:r>
            <a:endParaRPr sz="7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8380801D-0451-430A-BD48-E28E2C0D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4257040"/>
            <a:ext cx="71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rPr>
              <a:t>R2/R3 grant</a:t>
            </a:r>
            <a:endParaRPr sz="675" b="0" i="0">
              <a:solidFill>
                <a:srgbClr val="AFC0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C651DAB7-54AB-4E28-B013-2E0D4AB3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4790440"/>
            <a:ext cx="497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304967"/>
            </a:solidFill>
            <a:prstDash val="solid"/>
          </a:ln>
        </p:spPr>
        <p:txBody>
          <a:bodyPr xmlns:a="http://schemas.openxmlformats.org/drawingml/2006/main" lIns="66675" tIns="47625" rIns="66675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70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principal conflict / self-review / missing reviewer → structured error + no Decision</a:t>
            </a:r>
            <a:endParaRPr sz="700" b="1" i="0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8" name="圆角矩形 67">
            <a:extLst xmlns:a="http://schemas.openxmlformats.org/drawingml/2006/main">
              <a:ext uri="{FF2B5EF4-FFF2-40B4-BE49-F238E27FC236}">
                <a16:creationId xmlns:a16="http://schemas.microsoft.com/office/drawing/2014/main" id="{6B9A3C4C-7121-413E-9B52-9A8EE623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9370" y="2304415"/>
            <a:ext cx="5285740" cy="2964180"/>
          </a:xfrm>
          <a:prstGeom xmlns:a="http://schemas.openxmlformats.org/drawingml/2006/main" prst="roundRect">
            <a:avLst>
              <a:gd name="adj" fmla="val 514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69" name="圆角矩形 68">
            <a:extLst xmlns:a="http://schemas.openxmlformats.org/drawingml/2006/main">
              <a:ext uri="{FF2B5EF4-FFF2-40B4-BE49-F238E27FC236}">
                <a16:creationId xmlns:a16="http://schemas.microsoft.com/office/drawing/2014/main" id="{8004EC29-30BA-4F5D-A776-86929B51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2437765"/>
            <a:ext cx="11239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GRANT CONTRACT</a:t>
            </a:r>
            <a:endParaRPr sz="675" b="1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824DA2F6-4EF9-44A3-BC53-FE66FF20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0970" y="239966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一次批准只对应一次精确实验格</a:t>
            </a:r>
            <a:endParaRPr sz="1200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ADBABCCB-02EA-4F58-B535-62A2FB0F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276161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intent_digest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F578FB82-46AA-470B-A3CF-CAFF3844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45" y="276161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SHA-256</a:t>
            </a:r>
            <a:endParaRPr sz="67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2583CDED-5F11-449D-A1C1-BF4EAFB2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370" y="276161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绑定 frozen objective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4" name="直接连接符 73">
            <a:extLst xmlns:a="http://schemas.openxmlformats.org/drawingml/2006/main">
              <a:ext uri="{FF2B5EF4-FFF2-40B4-BE49-F238E27FC236}">
                <a16:creationId xmlns:a16="http://schemas.microsoft.com/office/drawing/2014/main" id="{C829B28B-8804-4F36-8B35-ABF39B36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028315"/>
            <a:ext cx="4980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6A756D6C-83A8-467A-835B-346569E7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05689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scope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A6C9F716-F6E8-48DA-A5CC-78A7AAF8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45" y="305689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run + cell</a:t>
            </a:r>
            <a:endParaRPr sz="67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A5F23D0A-BD95-499D-821D-F3D44482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370" y="305689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不能跨 matrix 复用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8" name="直接连接符 77">
            <a:extLst xmlns:a="http://schemas.openxmlformats.org/drawingml/2006/main">
              <a:ext uri="{FF2B5EF4-FFF2-40B4-BE49-F238E27FC236}">
                <a16:creationId xmlns:a16="http://schemas.microsoft.com/office/drawing/2014/main" id="{7FB739EA-A98F-4090-8368-847E16BB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323590"/>
            <a:ext cx="4980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959268B9-1984-45DC-8F89-4FFC5367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35216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expiry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94F189BD-CB87-48C8-8E04-4ECD1ED2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45" y="335216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≤15 minutes</a:t>
            </a:r>
            <a:endParaRPr sz="67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AD824AF9-0EB5-4595-A56C-BC596645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370" y="335216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过期即失效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2" name="直接连接符 81">
            <a:extLst xmlns:a="http://schemas.openxmlformats.org/drawingml/2006/main">
              <a:ext uri="{FF2B5EF4-FFF2-40B4-BE49-F238E27FC236}">
                <a16:creationId xmlns:a16="http://schemas.microsoft.com/office/drawing/2014/main" id="{4DFBE7C8-4155-4BA2-B028-A88156F1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618865"/>
            <a:ext cx="4980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CA5837AE-E559-4317-ADE6-A101EAC7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64744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nonce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4" name="矩形 83">
            <a:extLst xmlns:a="http://schemas.openxmlformats.org/drawingml/2006/main">
              <a:ext uri="{FF2B5EF4-FFF2-40B4-BE49-F238E27FC236}">
                <a16:creationId xmlns:a16="http://schemas.microsoft.com/office/drawing/2014/main" id="{8BA7E27D-41ED-43C3-99EC-17320DB8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45" y="364744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single-use</a:t>
            </a:r>
            <a:endParaRPr sz="67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5CA8622C-CB54-40A7-AD1D-CE726F99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370" y="364744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原子消费 / replay reject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6" name="直接连接符 85">
            <a:extLst xmlns:a="http://schemas.openxmlformats.org/drawingml/2006/main">
              <a:ext uri="{FF2B5EF4-FFF2-40B4-BE49-F238E27FC236}">
                <a16:creationId xmlns:a16="http://schemas.microsoft.com/office/drawing/2014/main" id="{DBEE7165-561A-4184-9F67-C31FBCE7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914140"/>
            <a:ext cx="4980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87" name="矩形 86">
            <a:extLst xmlns:a="http://schemas.openxmlformats.org/drawingml/2006/main">
              <a:ext uri="{FF2B5EF4-FFF2-40B4-BE49-F238E27FC236}">
                <a16:creationId xmlns:a16="http://schemas.microsoft.com/office/drawing/2014/main" id="{8B77912F-C173-4E1A-B2A3-8362AFD3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94271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receipt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8" name="矩形 87">
            <a:extLst xmlns:a="http://schemas.openxmlformats.org/drawingml/2006/main">
              <a:ext uri="{FF2B5EF4-FFF2-40B4-BE49-F238E27FC236}">
                <a16:creationId xmlns:a16="http://schemas.microsoft.com/office/drawing/2014/main" id="{39D5F2F2-0CAC-420F-95C0-488D26E3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45" y="394271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run binding</a:t>
            </a:r>
            <a:endParaRPr sz="67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9" name="矩形 88">
            <a:extLst xmlns:a="http://schemas.openxmlformats.org/drawingml/2006/main">
              <a:ext uri="{FF2B5EF4-FFF2-40B4-BE49-F238E27FC236}">
                <a16:creationId xmlns:a16="http://schemas.microsoft.com/office/drawing/2014/main" id="{A5E9460E-B767-4C72-B969-6C06A9E4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370" y="394271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执行事实反向绑定 Grant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CE63147B-DD81-49E2-ADB1-91B33C4A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4209415"/>
            <a:ext cx="4980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91" name="矩形 90">
            <a:extLst xmlns:a="http://schemas.openxmlformats.org/drawingml/2006/main">
              <a:ext uri="{FF2B5EF4-FFF2-40B4-BE49-F238E27FC236}">
                <a16:creationId xmlns:a16="http://schemas.microsoft.com/office/drawing/2014/main" id="{553603D4-F7BF-4100-84A9-51E1B079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423799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rollback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2" name="矩形 91">
            <a:extLst xmlns:a="http://schemas.openxmlformats.org/drawingml/2006/main">
              <a:ext uri="{FF2B5EF4-FFF2-40B4-BE49-F238E27FC236}">
                <a16:creationId xmlns:a16="http://schemas.microsoft.com/office/drawing/2014/main" id="{99E5E4D4-B36D-401F-8E1E-0A1EB797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45" y="423799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checkpoint</a:t>
            </a:r>
            <a:endParaRPr sz="67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3" name="矩形 92">
            <a:extLst xmlns:a="http://schemas.openxmlformats.org/drawingml/2006/main">
              <a:ext uri="{FF2B5EF4-FFF2-40B4-BE49-F238E27FC236}">
                <a16:creationId xmlns:a16="http://schemas.microsoft.com/office/drawing/2014/main" id="{9B1CE048-680E-418F-91F4-CAFE85E1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370" y="423799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恢复不覆盖原始失败</a:t>
            </a:r>
            <a:endParaRPr sz="670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4" name="直接连接符 93">
            <a:extLst xmlns:a="http://schemas.openxmlformats.org/drawingml/2006/main">
              <a:ext uri="{FF2B5EF4-FFF2-40B4-BE49-F238E27FC236}">
                <a16:creationId xmlns:a16="http://schemas.microsoft.com/office/drawing/2014/main" id="{B3A75D54-F5EE-4432-8A31-9F6BF02D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4504690"/>
            <a:ext cx="4980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95" name="矩形 94">
            <a:extLst xmlns:a="http://schemas.openxmlformats.org/drawingml/2006/main">
              <a:ext uri="{FF2B5EF4-FFF2-40B4-BE49-F238E27FC236}">
                <a16:creationId xmlns:a16="http://schemas.microsoft.com/office/drawing/2014/main" id="{2F591D0B-9ADE-45B6-B02A-391CCC5D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453326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audit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6" name="矩形 95">
            <a:extLst xmlns:a="http://schemas.openxmlformats.org/drawingml/2006/main">
              <a:ext uri="{FF2B5EF4-FFF2-40B4-BE49-F238E27FC236}">
                <a16:creationId xmlns:a16="http://schemas.microsoft.com/office/drawing/2014/main" id="{6150BD77-293F-46DE-B033-AD802C04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45" y="453326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hash chain</a:t>
            </a:r>
            <a:endParaRPr sz="67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7" name="矩形 96">
            <a:extLst xmlns:a="http://schemas.openxmlformats.org/drawingml/2006/main">
              <a:ext uri="{FF2B5EF4-FFF2-40B4-BE49-F238E27FC236}">
                <a16:creationId xmlns:a16="http://schemas.microsoft.com/office/drawing/2014/main" id="{806E59B0-AFF1-43AE-BB40-C013F806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370" y="453326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每次动作可重放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8" name="矩形 97">
            <a:extLst xmlns:a="http://schemas.openxmlformats.org/drawingml/2006/main">
              <a:ext uri="{FF2B5EF4-FFF2-40B4-BE49-F238E27FC236}">
                <a16:creationId xmlns:a16="http://schemas.microsoft.com/office/drawing/2014/main" id="{07075BB1-C768-471D-B1F2-15804115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4847590"/>
            <a:ext cx="498094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HMAC key 仅用于公开 fixture；production signer / key custody 明确不在当前验证范围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9" name="矩形 98">
            <a:extLst xmlns:a="http://schemas.openxmlformats.org/drawingml/2006/main">
              <a:ext uri="{FF2B5EF4-FFF2-40B4-BE49-F238E27FC236}">
                <a16:creationId xmlns:a16="http://schemas.microsoft.com/office/drawing/2014/main" id="{204E02AA-B214-4B57-B93D-E190326A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14975"/>
            <a:ext cx="1009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INTENT</a:t>
            </a:r>
            <a:endParaRPr sz="67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93463CE5-2E44-4A68-9788-A35C6102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514975"/>
            <a:ext cx="1028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PLAN</a:t>
            </a:r>
            <a:endParaRPr sz="65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15B92812-4D73-46CE-803F-D63BB24B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514975"/>
            <a:ext cx="1028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REVIEW</a:t>
            </a:r>
            <a:endParaRPr sz="65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2" name="矩形 101">
            <a:extLst xmlns:a="http://schemas.openxmlformats.org/drawingml/2006/main">
              <a:ext uri="{FF2B5EF4-FFF2-40B4-BE49-F238E27FC236}">
                <a16:creationId xmlns:a16="http://schemas.microsoft.com/office/drawing/2014/main" id="{4C746EC5-6265-4B1E-A1D3-CDA4451B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514975"/>
            <a:ext cx="1028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GRANT</a:t>
            </a:r>
            <a:endParaRPr sz="65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3" name="矩形 102">
            <a:extLst xmlns:a="http://schemas.openxmlformats.org/drawingml/2006/main">
              <a:ext uri="{FF2B5EF4-FFF2-40B4-BE49-F238E27FC236}">
                <a16:creationId xmlns:a16="http://schemas.microsoft.com/office/drawing/2014/main" id="{939229A9-1DC1-439F-8029-3CDC591A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14975"/>
            <a:ext cx="1028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BLOCKED</a:t>
            </a:r>
            <a:endParaRPr sz="65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4" name="矩形 103">
            <a:extLst xmlns:a="http://schemas.openxmlformats.org/drawingml/2006/main">
              <a:ext uri="{FF2B5EF4-FFF2-40B4-BE49-F238E27FC236}">
                <a16:creationId xmlns:a16="http://schemas.microsoft.com/office/drawing/2014/main" id="{20018525-943B-42B4-829C-506E7B07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514975"/>
            <a:ext cx="1181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CONSUME</a:t>
            </a:r>
            <a:endParaRPr sz="655" b="1" i="0">
              <a:solidFill>
                <a:srgbClr val="D97706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algn="ctr">
              <a:buNone/>
              <a:defRPr sz="655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ONCE</a:t>
            </a:r>
            <a:endParaRPr sz="655" b="1" i="0">
              <a:solidFill>
                <a:srgbClr val="D9770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5" name="矩形 104">
            <a:extLst xmlns:a="http://schemas.openxmlformats.org/drawingml/2006/main">
              <a:ext uri="{FF2B5EF4-FFF2-40B4-BE49-F238E27FC236}">
                <a16:creationId xmlns:a16="http://schemas.microsoft.com/office/drawing/2014/main" id="{9F4A60DD-905E-49A0-955A-43EF3E11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14975"/>
            <a:ext cx="1028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RECEIPT</a:t>
            </a:r>
            <a:endParaRPr sz="65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47DCA0CF-F1BA-4D14-9E43-5CBDC2F0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5514975"/>
            <a:ext cx="1028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BF4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VERIFY</a:t>
            </a:r>
            <a:endParaRPr sz="655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7" name="矩形 106">
            <a:extLst xmlns:a="http://schemas.openxmlformats.org/drawingml/2006/main">
              <a:ext uri="{FF2B5EF4-FFF2-40B4-BE49-F238E27FC236}">
                <a16:creationId xmlns:a16="http://schemas.microsoft.com/office/drawing/2014/main" id="{770AFC2F-BBE8-4432-96A3-E9C0FC5B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5457825"/>
            <a:ext cx="13716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DECIDE /</a:t>
            </a:r>
            <a:endParaRPr sz="655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algn="ctr">
              <a:buNone/>
              <a:defRPr sz="65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ARCHIVE</a:t>
            </a:r>
            <a:endParaRPr sz="655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8" name="矩形 107">
            <a:extLst xmlns:a="http://schemas.openxmlformats.org/drawingml/2006/main">
              <a:ext uri="{FF2B5EF4-FFF2-40B4-BE49-F238E27FC236}">
                <a16:creationId xmlns:a16="http://schemas.microsoft.com/office/drawing/2014/main" id="{FB34B2C0-1D2B-4D7C-91AA-F0D19CBE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95975"/>
            <a:ext cx="10715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3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3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HITL 不是 UI 按钮，而是可审计 state transition + scope-bound capability</a:t>
            </a:r>
            <a:endParaRPr sz="73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9" name="矩形 108">
            <a:extLst xmlns:a="http://schemas.openxmlformats.org/drawingml/2006/main">
              <a:ext uri="{FF2B5EF4-FFF2-40B4-BE49-F238E27FC236}">
                <a16:creationId xmlns:a16="http://schemas.microsoft.com/office/drawing/2014/main" id="{B3F0FCE7-D102-4179-8636-EDDFCFE3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172200"/>
            <a:ext cx="881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0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负测：missing grant · scope mismatch · expired · replay · self-review · tamper 均 fail closed</a:t>
            </a:r>
            <a:endParaRPr sz="700" b="1" i="0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1965541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7D104BA-63CA-4424-A28E-2504B93C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Skills · Runtime registry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FBB03D1-AFBA-4A6F-9EFC-7161592F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7700"/>
            <a:ext cx="9620250" cy="542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21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discover → load → invoke → canary → rollback → retire</a:t>
            </a:r>
            <a:endParaRPr sz="217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308468C-37AC-4880-9D82-C5100BD5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544C202-6A41-4F7F-8FC8-BA73AB9F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6 / 3</a:t>
            </a:r>
            <a:endParaRPr sz="18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0D0346FC-38E6-4736-8F7B-ED6DBDD0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38250"/>
            <a:ext cx="962025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9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6 个 digest-pinned Skill package；3 个 allowlisted deterministic handler；每次调用输出 correlation trace。</a:t>
            </a:r>
            <a:endParaRPr sz="99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1B011DD3-E4D4-4815-81B8-63A43D82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19300"/>
            <a:ext cx="11144250" cy="4057650"/>
          </a:xfrm>
          <a:prstGeom xmlns:a="http://schemas.openxmlformats.org/drawingml/2006/main" prst="roundRect">
            <a:avLst>
              <a:gd name="adj" fmla="val 37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771B5C9C-79F3-4968-BD17-AEA19E3B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9525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EB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EXECUTABLE CORE</a:t>
            </a:r>
            <a:endParaRPr sz="675" b="1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2DDECC3D-3680-4071-925F-DC745C6C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57450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3 个可运行 handler</a:t>
            </a:r>
            <a:endParaRPr sz="127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DC125510-ACD5-45B7-94E0-8B654569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67025"/>
            <a:ext cx="3048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75E6007D-AEBC-475D-A23E-35ED2CFE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6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D72018B0-91ED-48F1-A7AB-0BBD9723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051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0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ResearchPlan</a:t>
            </a:r>
            <a:endParaRPr sz="790" b="1" i="0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943F922C-C7F4-4382-AA84-BE049259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76575"/>
            <a:ext cx="2409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freeze · budget · falsifiability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6" name="圆角矩形 45">
            <a:extLst xmlns:a="http://schemas.openxmlformats.org/drawingml/2006/main">
              <a:ext uri="{FF2B5EF4-FFF2-40B4-BE49-F238E27FC236}">
                <a16:creationId xmlns:a16="http://schemas.microsoft.com/office/drawing/2014/main" id="{19E3801A-FA08-489D-8379-678EBE75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95675"/>
            <a:ext cx="3048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897DDB80-D332-4AE1-AEF5-E010D2BC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0925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6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AF529C8E-553D-43B9-809B-D3B503E4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337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Dataset</a:t>
            </a:r>
            <a:br/>
            <a:r>
              <a:rPr sz="7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Manifest</a:t>
            </a:r>
            <a:endParaRPr sz="7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31A32BF1-AC82-4927-9C16-45DE42BB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05225"/>
            <a:ext cx="2409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relative path · digest · canonical order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0" name="圆角矩形 49">
            <a:extLst xmlns:a="http://schemas.openxmlformats.org/drawingml/2006/main">
              <a:ext uri="{FF2B5EF4-FFF2-40B4-BE49-F238E27FC236}">
                <a16:creationId xmlns:a16="http://schemas.microsoft.com/office/drawing/2014/main" id="{48277116-2FBC-43AB-BA5C-D1F0E331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24325"/>
            <a:ext cx="3048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AFC7"/>
            </a:solidFill>
            <a:prstDash val="solid"/>
          </a:ln>
        </p:spPr>
      </p:sp>
      <p:sp>
        <p:nvSpPr>
          <p:cNvPr id="51" name="圆角矩形 50">
            <a:extLst xmlns:a="http://schemas.openxmlformats.org/drawingml/2006/main">
              <a:ext uri="{FF2B5EF4-FFF2-40B4-BE49-F238E27FC236}">
                <a16:creationId xmlns:a16="http://schemas.microsoft.com/office/drawing/2014/main" id="{24608A2E-B99C-43B4-95BF-F673C196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9575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8AFC7"/>
          </a:solidFill>
          <a:ln xmlns:a="http://schemas.openxmlformats.org/drawingml/2006/main" w="0">
            <a:solidFill>
              <a:srgbClr val="08AFC7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6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349F7846-6B96-4721-8EE5-BE4CBEBB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624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EvidenceGate</a:t>
            </a:r>
            <a:endParaRPr sz="790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CD58902D-3986-4A1C-BB7A-E229FD2B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33875"/>
            <a:ext cx="2409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complete kinds · reviewer independence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D85A8086-55B5-4BC4-8191-830BA5FC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52975"/>
            <a:ext cx="3048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55" name="圆角矩形 54">
            <a:extLst xmlns:a="http://schemas.openxmlformats.org/drawingml/2006/main">
              <a:ext uri="{FF2B5EF4-FFF2-40B4-BE49-F238E27FC236}">
                <a16:creationId xmlns:a16="http://schemas.microsoft.com/office/drawing/2014/main" id="{10FA8613-9364-4625-B340-AC69B462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48225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6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09809365-516E-4D4F-B169-FB5BD744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910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SafeRunner</a:t>
            </a:r>
            <a:endParaRPr sz="790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50BE32BA-6A97-4E81-B525-A342C7CC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62525"/>
            <a:ext cx="2409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discoverable · generic invoke denied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2EB3036D-A7A0-414E-9D6A-D0621A17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6735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715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+ AblationAnalyzer / ResearchMemory；高风险 runner 不因 registry 而绕过专用 approval path。</a:t>
            </a:r>
            <a:endParaRPr sz="715" b="1" i="0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9" name="圆角矩形 58">
            <a:extLst xmlns:a="http://schemas.openxmlformats.org/drawingml/2006/main">
              <a:ext uri="{FF2B5EF4-FFF2-40B4-BE49-F238E27FC236}">
                <a16:creationId xmlns:a16="http://schemas.microsoft.com/office/drawing/2014/main" id="{D5817383-583C-4A98-AA07-E0D3905C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171700"/>
            <a:ext cx="11811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RELEASE CONTRACT</a:t>
            </a:r>
            <a:endParaRPr sz="675" b="1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A37F8CDA-F767-4AB9-8F6D-5B1F2CD5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457450"/>
            <a:ext cx="4533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2563EB"/>
                </a:solidFill>
                <a:latin typeface="Consolas"/>
                <a:ea typeface="Consolas"/>
                <a:cs typeface="Consolas"/>
              </a:defRPr>
            </a:pPr>
            <a:r>
              <a:rPr sz="1275" b="1" i="0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skill://name@semver#package_digest</a:t>
            </a:r>
            <a:endParaRPr sz="1275" b="1" i="0">
              <a:solidFill>
                <a:srgbClr val="2563E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19C69F8B-B988-4712-B290-D3E6E56E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819400"/>
            <a:ext cx="6000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666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输入</a:t>
            </a:r>
            <a:endParaRPr sz="71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6D6955C2-043D-46FF-9F31-2C1C8DBE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19400"/>
            <a:ext cx="389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F0"/>
            </a:solidFill>
            <a:prstDash val="solid"/>
          </a:ln>
        </p:spPr>
        <p:txBody>
          <a:bodyPr xmlns:a="http://schemas.openxmlformats.org/drawingml/2006/main" lIns="66675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typed payload + correlation_id + optional version pin</a:t>
            </a:r>
            <a:endParaRPr sz="65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1F7F6C98-0219-4887-B2A1-B0458A5E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171825"/>
            <a:ext cx="6000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666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输出</a:t>
            </a:r>
            <a:endParaRPr sz="71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F8148ED7-CFCF-47A4-B5AB-6E61989A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71825"/>
            <a:ext cx="389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F0"/>
            </a:solidFill>
            <a:prstDash val="solid"/>
          </a:ln>
        </p:spPr>
        <p:txBody>
          <a:bodyPr xmlns:a="http://schemas.openxmlformats.org/drawingml/2006/main" lIns="66675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result + input/output digest + invocation_id</a:t>
            </a:r>
            <a:endParaRPr sz="65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6FD512C0-4052-40E8-AEF2-2B9D2EAC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524250"/>
            <a:ext cx="6000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666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发现</a:t>
            </a:r>
            <a:endParaRPr sz="71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A9679402-A35F-40E5-946C-5835F962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24250"/>
            <a:ext cx="389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F0"/>
            </a:solidFill>
            <a:prstDash val="solid"/>
          </a:ln>
        </p:spPr>
        <p:txBody>
          <a:bodyPr xmlns:a="http://schemas.openxmlformats.org/drawingml/2006/main" lIns="66675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SKILL.md + project manifest · strict SemVer</a:t>
            </a:r>
            <a:endParaRPr sz="65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C678DAE9-431A-4FAC-8C8C-D997E683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876675"/>
            <a:ext cx="6000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666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路由</a:t>
            </a:r>
            <a:endParaRPr sz="71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F65D2DEE-50B5-4C20-B469-1092E902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76675"/>
            <a:ext cx="389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F0"/>
            </a:solidFill>
            <a:prstDash val="solid"/>
          </a:ln>
        </p:spPr>
        <p:txBody>
          <a:bodyPr xmlns:a="http://schemas.openxmlformats.org/drawingml/2006/main" lIns="66675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deterministic hash bucket · canary ≤50%</a:t>
            </a:r>
            <a:endParaRPr sz="65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8DA3E337-656F-45AD-B311-E39B86E3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229100"/>
            <a:ext cx="6000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666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失败</a:t>
            </a:r>
            <a:endParaRPr sz="71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DB355A21-701C-4959-96C1-647B055C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29100"/>
            <a:ext cx="389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F0"/>
            </a:solidFill>
            <a:prstDash val="solid"/>
          </a:ln>
        </p:spPr>
        <p:txBody>
          <a:bodyPr xmlns:a="http://schemas.openxmlformats.org/drawingml/2006/main" lIns="66675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E_VERSION_PIN · E_PACKAGE_DIGEST · E_NOT_EXECUTABLE</a:t>
            </a:r>
            <a:endParaRPr sz="65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5FF769A5-FC16-4C42-AF6A-F6DDA91B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581525"/>
            <a:ext cx="6000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666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安全</a:t>
            </a:r>
            <a:endParaRPr sz="71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CD8CBDE2-813F-447A-BCBF-2D3BA312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81525"/>
            <a:ext cx="389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F0"/>
            </a:solidFill>
            <a:prstDash val="solid"/>
          </a:ln>
        </p:spPr>
        <p:txBody>
          <a:bodyPr xmlns:a="http://schemas.openxmlformats.org/drawingml/2006/main" lIns="66675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handler allowlist · owner ≠ reviewer · fail closed</a:t>
            </a:r>
            <a:endParaRPr sz="65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E2EC5C63-A02C-41EB-BCF3-9ADD5C14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933950"/>
            <a:ext cx="6000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666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验证</a:t>
            </a:r>
            <a:endParaRPr sz="71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7ED96C6D-33C3-4B9E-98ED-F66BE4CD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933950"/>
            <a:ext cx="389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F0"/>
            </a:solidFill>
            <a:prstDash val="solid"/>
          </a:ln>
        </p:spPr>
        <p:txBody>
          <a:bodyPr xmlns:a="http://schemas.openxmlformats.org/drawingml/2006/main" lIns="66675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same correlation + input → same invocation trace</a:t>
            </a:r>
            <a:endParaRPr sz="65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275846D7-61CC-46B1-964B-45562219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5286375"/>
            <a:ext cx="6000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666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生命周期</a:t>
            </a:r>
            <a:endParaRPr sz="71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221B0F9B-B28F-4112-806B-5B166835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286375"/>
            <a:ext cx="389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F0"/>
            </a:solidFill>
            <a:prstDash val="solid"/>
          </a:ln>
        </p:spPr>
        <p:txBody>
          <a:bodyPr xmlns:a="http://schemas.openxmlformats.org/drawingml/2006/main" lIns="66675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draft → canary → active → retired / rollback</a:t>
            </a:r>
            <a:endParaRPr sz="65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DECF66CF-A57E-4B76-8975-F5329814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5695950"/>
            <a:ext cx="4533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7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当前 reference registry 为进程内状态；production lifecycle persistence 仍需接 control-plane store</a:t>
            </a:r>
            <a:endParaRPr sz="670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8" name="圆角矩形 77">
            <a:extLst xmlns:a="http://schemas.openxmlformats.org/drawingml/2006/main">
              <a:ext uri="{FF2B5EF4-FFF2-40B4-BE49-F238E27FC236}">
                <a16:creationId xmlns:a16="http://schemas.microsoft.com/office/drawing/2014/main" id="{B055676F-2008-4E88-947F-32E7AA71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71700"/>
            <a:ext cx="18669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RUNTIME PROOF</a:t>
            </a:r>
            <a:endParaRPr sz="675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40C15EB2-B08A-4566-844E-243804F9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57450"/>
            <a:ext cx="26384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6 packages / 3 executable</a:t>
            </a:r>
            <a:endParaRPr sz="127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0" name="圆角矩形 79">
            <a:extLst xmlns:a="http://schemas.openxmlformats.org/drawingml/2006/main">
              <a:ext uri="{FF2B5EF4-FFF2-40B4-BE49-F238E27FC236}">
                <a16:creationId xmlns:a16="http://schemas.microsoft.com/office/drawing/2014/main" id="{9A2E8F34-AD28-446B-A16A-56CF7C3F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57500"/>
            <a:ext cx="26384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discover：frontmatter + manifest</a:t>
            </a:r>
            <a:endParaRPr sz="7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algn="ctr">
              <a:buNone/>
              <a:defRPr sz="7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package digest 防静默替换</a:t>
            </a:r>
            <a:endParaRPr sz="7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1" name="圆角矩形 80">
            <a:extLst xmlns:a="http://schemas.openxmlformats.org/drawingml/2006/main">
              <a:ext uri="{FF2B5EF4-FFF2-40B4-BE49-F238E27FC236}">
                <a16:creationId xmlns:a16="http://schemas.microsoft.com/office/drawing/2014/main" id="{A7A150D0-A2EC-44FC-9910-F0D31A13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571875"/>
            <a:ext cx="26384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invoke：ResearchPlan / DatasetManifest / EvidenceGate</a:t>
            </a:r>
            <a:endParaRPr sz="7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algn="ctr">
              <a:buNone/>
              <a:defRPr sz="7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SafeRunner = E_NOT_EXECUTABLE</a:t>
            </a:r>
            <a:endParaRPr sz="7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D87B513D-9D95-4B90-8A0E-76AD54AE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434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当前证据</a:t>
            </a:r>
            <a:endParaRPr sz="675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A87B997D-4A61-47BF-815F-7CCA32FE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4340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6 focused tests PASS</a:t>
            </a:r>
            <a:endParaRPr sz="675" b="0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4" name="矩形 83">
            <a:extLst xmlns:a="http://schemas.openxmlformats.org/drawingml/2006/main">
              <a:ext uri="{FF2B5EF4-FFF2-40B4-BE49-F238E27FC236}">
                <a16:creationId xmlns:a16="http://schemas.microsoft.com/office/drawing/2014/main" id="{22F64D6D-3291-4445-885C-12784969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657725"/>
            <a:ext cx="2638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7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7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invocation trace</a:t>
            </a:r>
            <a:endParaRPr sz="77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ACAEDCAE-969F-4517-8BC1-924CA893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14900"/>
            <a:ext cx="26384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  <p:txBody>
          <a:bodyPr xmlns:a="http://schemas.openxmlformats.org/drawingml/2006/main" lIns="76200" tIns="66675" rIns="76200" bIns="571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fixed-seed bootstrap · structured errors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algn="l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GPU dry-run default · shell=False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algn="l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仅 packaged synthetic_worker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6" name="矩形 85">
            <a:extLst xmlns:a="http://schemas.openxmlformats.org/drawingml/2006/main">
              <a:ext uri="{FF2B5EF4-FFF2-40B4-BE49-F238E27FC236}">
                <a16:creationId xmlns:a16="http://schemas.microsoft.com/office/drawing/2014/main" id="{2FBA2B1D-AE8B-43E8-AE5F-AE2EAC1D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667375"/>
            <a:ext cx="2638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复用：robotics / model training / data pipeline 共用合同；handler 保持领域内确定性</a:t>
            </a:r>
            <a:endParaRPr sz="655" b="1" i="0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1519826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38AD5C5-917F-46F3-9DCF-9C2E0660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HITL · RXP one-time Grant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5FE61B3-10CF-4C36-B145-AE61804D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8175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21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实验 token 不是额度：它代表一次可审计、不可重放的实验授权</a:t>
            </a:r>
            <a:endParaRPr sz="217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28819468-BC3E-4475-B561-1335A304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57300"/>
            <a:ext cx="1000125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8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8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SYNTHETIC FIXTURE：签名 key 为公开 demo key；结构验证真实，production signature trust = NONE。</a:t>
            </a:r>
            <a:endParaRPr sz="885" b="1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89BCABAD-3B60-433D-B356-EC86DB83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9775"/>
            <a:ext cx="5353050" cy="1914525"/>
          </a:xfrm>
          <a:prstGeom xmlns:a="http://schemas.openxmlformats.org/drawingml/2006/main" prst="roundRect">
            <a:avLst>
              <a:gd name="adj" fmla="val 7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 lIns="152400" tIns="428625" rIns="1524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冻结一个意图</a:t>
            </a:r>
            <a:endParaRPr sz="112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72B8F5C6-D460-4FAC-8053-4BD50109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1619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A · INTENT</a:t>
            </a:r>
            <a:endParaRPr sz="660" b="1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8C5B8A03-210F-4C04-8EC2-31751102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7E506D3B-798B-428E-8D46-65F4B74B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9775"/>
            <a:ext cx="5353050" cy="1914525"/>
          </a:xfrm>
          <a:prstGeom xmlns:a="http://schemas.openxmlformats.org/drawingml/2006/main" prst="roundRect">
            <a:avLst>
              <a:gd name="adj" fmla="val 7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  <p:txBody>
          <a:bodyPr xmlns:a="http://schemas.openxmlformats.org/drawingml/2006/main" lIns="152400" tIns="428625" rIns="1524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展开完整矩阵</a:t>
            </a:r>
            <a:endParaRPr sz="112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D92AFA89-6511-4AAA-924E-2628D520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33600"/>
            <a:ext cx="1619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B · MATRIX PLAN</a:t>
            </a:r>
            <a:endParaRPr sz="660" b="1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4" name="直接连接符 43">
            <a:extLst xmlns:a="http://schemas.openxmlformats.org/drawingml/2006/main">
              <a:ext uri="{FF2B5EF4-FFF2-40B4-BE49-F238E27FC236}">
                <a16:creationId xmlns:a16="http://schemas.microsoft.com/office/drawing/2014/main" id="{812FBDFB-A1C0-4770-B72F-FB20DAF2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5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12A0FF05-3C37-4962-BBDD-6E2145C3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52900"/>
            <a:ext cx="5353050" cy="1914525"/>
          </a:xfrm>
          <a:prstGeom xmlns:a="http://schemas.openxmlformats.org/drawingml/2006/main" prst="roundRect">
            <a:avLst>
              <a:gd name="adj" fmla="val 7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8AFC7"/>
            </a:solidFill>
            <a:prstDash val="solid"/>
          </a:ln>
        </p:spPr>
        <p:txBody>
          <a:bodyPr xmlns:a="http://schemas.openxmlformats.org/drawingml/2006/main" lIns="152400" tIns="428625" rIns="1524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人只批准精确 scope</a:t>
            </a:r>
            <a:endParaRPr sz="112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6" name="圆角矩形 45">
            <a:extLst xmlns:a="http://schemas.openxmlformats.org/drawingml/2006/main">
              <a:ext uri="{FF2B5EF4-FFF2-40B4-BE49-F238E27FC236}">
                <a16:creationId xmlns:a16="http://schemas.microsoft.com/office/drawing/2014/main" id="{934F95F5-1FC5-45C4-8990-243D87A9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76725"/>
            <a:ext cx="1619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BFD"/>
          </a:solidFill>
          <a:ln xmlns:a="http://schemas.openxmlformats.org/drawingml/2006/main" w="9525">
            <a:solidFill>
              <a:srgbClr val="08AFC7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C · GRANT</a:t>
            </a:r>
            <a:endParaRPr sz="660" b="1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7" name="直接连接符 46">
            <a:extLst xmlns:a="http://schemas.openxmlformats.org/drawingml/2006/main">
              <a:ext uri="{FF2B5EF4-FFF2-40B4-BE49-F238E27FC236}">
                <a16:creationId xmlns:a16="http://schemas.microsoft.com/office/drawing/2014/main" id="{9FC54E1A-3883-449E-B20C-B084F18D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67275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8" name="圆角矩形 47">
            <a:extLst xmlns:a="http://schemas.openxmlformats.org/drawingml/2006/main">
              <a:ext uri="{FF2B5EF4-FFF2-40B4-BE49-F238E27FC236}">
                <a16:creationId xmlns:a16="http://schemas.microsoft.com/office/drawing/2014/main" id="{1791F898-7E78-47C1-AC05-A782C686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52900"/>
            <a:ext cx="5353050" cy="1914525"/>
          </a:xfrm>
          <a:prstGeom xmlns:a="http://schemas.openxmlformats.org/drawingml/2006/main" prst="roundRect">
            <a:avLst>
              <a:gd name="adj" fmla="val 7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59669"/>
            </a:solidFill>
            <a:prstDash val="solid"/>
          </a:ln>
        </p:spPr>
        <p:txBody>
          <a:bodyPr xmlns:a="http://schemas.openxmlformats.org/drawingml/2006/main" lIns="152400" tIns="428625" rIns="1524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证据齐全才 Decision</a:t>
            </a:r>
            <a:endParaRPr sz="112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DCA470DF-79AB-4F78-BE92-CDE46E14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76725"/>
            <a:ext cx="1619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D · ACCEPTANCE</a:t>
            </a:r>
            <a:endParaRPr sz="660" b="1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0" name="直接连接符 49">
            <a:extLst xmlns:a="http://schemas.openxmlformats.org/drawingml/2006/main">
              <a:ext uri="{FF2B5EF4-FFF2-40B4-BE49-F238E27FC236}">
                <a16:creationId xmlns:a16="http://schemas.microsoft.com/office/drawing/2014/main" id="{B0FE994B-AB66-4B0C-8204-ABAD25EC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67275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4D292426-B19B-4E58-A8C4-1FAA5E31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1</a:t>
            </a:r>
            <a:endParaRPr sz="150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F32374D2-D6B1-4C46-B3DB-07D7B07C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intent digest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12CEC126-BFC6-4464-AE78-C86111B3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8575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1</a:t>
            </a:r>
            <a:endParaRPr sz="150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087DCE59-F96A-4A89-BC3E-E2661384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1051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frozen policy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189AF905-1D1E-40D8-AB8E-975BE602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575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RXP/1</a:t>
            </a:r>
            <a:endParaRPr sz="150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09ABC1DD-331B-42D5-8BBB-FA99CD20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1051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protocol version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72D4D76E-63F0-47FF-8DFA-0F245F05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3852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2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2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目标、预算、接受阈值先 canonicalize；后续对象都反向引用。</a:t>
            </a:r>
            <a:endParaRPr sz="72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3D757981-4287-4861-83EA-FE1B5F43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575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2 cells</a:t>
            </a:r>
            <a:endParaRPr sz="1500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83767E5F-10C5-4435-A078-32FE9FFA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051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baseline + candidate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3250CCD3-5A63-4620-8FBC-8A428152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2 / 2</a:t>
            </a:r>
            <a:endParaRPr sz="1500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930B5B39-DAA7-413A-9134-029B9AFB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051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COMPLETE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E49549CD-B051-4888-BE5C-4911CD50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575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23</a:t>
            </a:r>
            <a:endParaRPr sz="1500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F5CB65D6-43F2-4235-AFE8-80C2C29D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051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ledger entries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D4E6FB19-455C-43D0-A8EA-61FC8922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575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D3</a:t>
            </a:r>
            <a:endParaRPr sz="1500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AF2E7C88-94C1-44D3-8B36-67EC3983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1051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evidence gate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441D0559-2C72-4E83-9EA5-F8E4AF90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3852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0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MatrixLedger 证明 expected 与 observed 的集合闭合；漏一格不允许 Decision。</a:t>
            </a:r>
            <a:endParaRPr sz="70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2C89F79A-643D-4484-BF66-6C4370A6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006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R2</a:t>
            </a:r>
            <a:endParaRPr sz="1500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FF93BC7D-D82F-4DD5-918F-BCBFB89B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482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human checkpoint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8CC93DC6-28C0-4F9B-B7C4-BD396FA3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0006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scope</a:t>
            </a:r>
            <a:endParaRPr sz="1500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E479CC87-ADA5-4A39-BD40-A65FE7E9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2482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run + cell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3BB2495C-F205-42B4-B05D-3C26BB13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0006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≤15 min</a:t>
            </a:r>
            <a:endParaRPr sz="1500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4EB44E2F-FCF2-4A84-8618-9E008580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2482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single-use nonce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41365FFB-CBA0-4EE3-ACC9-7E6A507F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Grant 消费后产生 Receipt；重放、换 cell、改 payload、过期都被拒绝。</a:t>
            </a:r>
            <a:endParaRPr sz="70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8EB67261-E2DD-427E-A8FD-4A6A5617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00062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7 / 7</a:t>
            </a:r>
            <a:endParaRPr sz="1500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2D74E638-ADAB-4296-BB5B-053479E9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24827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evidence kinds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D3C3CD25-DA3A-418E-B500-C19D6415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500062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Reviewer</a:t>
            </a:r>
            <a:endParaRPr sz="1500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6CDE96AC-B445-4E84-A2B4-EE09AC85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52482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independent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C610AC64-7E61-4FAD-B00B-21849B50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00062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DECIDED</a:t>
            </a:r>
            <a:endParaRPr sz="1500" b="1" i="0">
              <a:solidFill>
                <a:srgbClr val="D9770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94B44A51-51A3-4212-AE0B-FF3B4E08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248275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only after PASS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1C15153B-5D26-422D-B1E9-3182E430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81650"/>
            <a:ext cx="493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8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8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Decision 绑定 evidence root、matrix root、reviewer 和所有 causal references。</a:t>
            </a:r>
            <a:endParaRPr sz="68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675A28AF-71E2-42FF-8991-E182A99E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6191250"/>
            <a:ext cx="988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fixture root 可独立 verify；真实 GPU / model gain / production key custody 均不在本页宣称范围</a:t>
            </a:r>
            <a:endParaRPr sz="70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8331711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B1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8E78AA6-92DB-4A4E-9090-EE2A55AD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-1280160"/>
            <a:ext cx="4114800" cy="411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FD04D92-8485-4CFC-8E84-C249BD6C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420624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A715E5-54B0-48D1-9253-A1AF6F4B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22960" y="4937760"/>
            <a:ext cx="2743200" cy="274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95BE5C3-2C8E-4999-8930-224C9503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54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JUDGE REPLAY · CHECKPOINT 1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98CEEB8-FA1A-488C-9510-D7CCBC9F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38350"/>
            <a:ext cx="4762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buNone/>
              <a:defRPr sz="3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一条 run</a:t>
            </a:r>
            <a:endParaRPr sz="34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marL="0" indent="0">
              <a:lnSpc>
                <a:spcPct val="102000"/>
              </a:lnSpc>
              <a:buNone/>
              <a:defRPr sz="3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五个闭环对象</a:t>
            </a:r>
            <a:endParaRPr sz="34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EA2F30C-8906-4B69-BAEA-B0C845BA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722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75">
                <a:solidFill>
                  <a:srgbClr val="A9B2D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>
                <a:solidFill>
                  <a:srgbClr val="A9B2D0"/>
                </a:solidFill>
                <a:latin typeface="Noto Sans CJK SC"/>
                <a:ea typeface="Noto Sans CJK SC"/>
                <a:cs typeface="Noto Sans CJK SC"/>
              </a:rPr>
              <a:t>真实本地 Cockpit · 静态 fixture 如实标记</a:t>
            </a:r>
            <a:endParaRPr sz="975">
              <a:solidFill>
                <a:srgbClr val="A9B2D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E2D3AD9B-8920-439C-9142-87DB2CDE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95725"/>
            <a:ext cx="4476750" cy="7086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35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Intent → Grant → Receipt → Evidence → Decision；2 / 2 COMPLETE，23-entry append-only ledger。</a:t>
            </a:r>
            <a:endParaRPr sz="135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29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dfc0cb39d24bce"/>
          <a:srcRect xmlns:a="http://schemas.openxmlformats.org/drawingml/2006/main" l="7355" t="0" r="7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191125" y="1261745"/>
            <a:ext cx="7000875" cy="4619625"/>
          </a:xfrm>
          <a:prstGeom xmlns:a="http://schemas.openxmlformats.org/drawingml/2006/main" prst="round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9f5e3955614a1d"/>
          <a:stretch xmlns:a="http://schemas.openxmlformats.org/drawingml/2006/main"/>
        </p:blipFill>
        <p:spPr>
          <a:xfrm xmlns:a="http://schemas.openxmlformats.org/drawingml/2006/main" flipH="0" flipV="0">
            <a:off x="5191125" y="1261745"/>
            <a:ext cx="7000875" cy="4619625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7935530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B1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8E78AA6-92DB-4A4E-9090-EE2A55AD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-1280160"/>
            <a:ext cx="4114800" cy="411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FD04D92-8485-4CFC-8E84-C249BD6C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420624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A715E5-54B0-48D1-9253-A1AF6F4B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22960" y="4937760"/>
            <a:ext cx="2743200" cy="274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95BE5C3-2C8E-4999-8930-224C9503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54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JUDGE REPLAY · CHECKPOINT 2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98CEEB8-FA1A-488C-9510-D7CCBC9F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38350"/>
            <a:ext cx="4762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buNone/>
              <a:defRPr sz="3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故障注入</a:t>
            </a:r>
            <a:endParaRPr sz="34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marL="0" indent="0">
              <a:lnSpc>
                <a:spcPct val="102000"/>
              </a:lnSpc>
              <a:buNone/>
              <a:defRPr sz="3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必须改变结局</a:t>
            </a:r>
            <a:endParaRPr sz="34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EA2F30C-8906-4B69-BAEA-B0C845BA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722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75">
                <a:solidFill>
                  <a:srgbClr val="A9B2D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>
                <a:solidFill>
                  <a:srgbClr val="A9B2D0"/>
                </a:solidFill>
                <a:latin typeface="Noto Sans CJK SC"/>
                <a:ea typeface="Noto Sans CJK SC"/>
                <a:cs typeface="Noto Sans CJK SC"/>
              </a:rPr>
              <a:t>同一 benchmark corpus · independent oracle</a:t>
            </a:r>
            <a:endParaRPr sz="975">
              <a:solidFill>
                <a:srgbClr val="A9B2D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E2D3AD9B-8920-439C-9142-87DB2CDE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95725"/>
            <a:ext cx="4476750" cy="7086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35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timeout / conflict / replay / tamper 不能被吞掉：重路由、阻断或 SKIP 必须进入 evidence bundle。</a:t>
            </a:r>
            <a:endParaRPr sz="135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29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df22514cb43d4"/>
          <a:srcRect xmlns:a="http://schemas.openxmlformats.org/drawingml/2006/main" l="7355" t="0" r="7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191125" y="1261745"/>
            <a:ext cx="7000875" cy="4619625"/>
          </a:xfrm>
          <a:prstGeom xmlns:a="http://schemas.openxmlformats.org/drawingml/2006/main" prst="round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39676bdc0a4f94"/>
          <a:stretch xmlns:a="http://schemas.openxmlformats.org/drawingml/2006/main"/>
        </p:blipFill>
        <p:spPr>
          <a:xfrm xmlns:a="http://schemas.openxmlformats.org/drawingml/2006/main" flipH="0" flipV="0">
            <a:off x="5191125" y="1261745"/>
            <a:ext cx="7000875" cy="4619625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7935530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38AD5C5-917F-46F3-9DCF-9C2E0660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Evidence · 2026-08-29 本地复测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5FE61B3-10CF-4C36-B145-AE61804D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8175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21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同一仓库同时给出代码、负测、报告与 release gate</a:t>
            </a:r>
            <a:endParaRPr sz="217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28819468-BC3E-4475-B561-1335A304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57300"/>
            <a:ext cx="1000125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8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8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默认 209 tests 全过；另有 PostgreSQL 16.14 / 27 tests。外部 live 项单列 NOT RUN。</a:t>
            </a:r>
            <a:endParaRPr sz="885" b="1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89BCABAD-3B60-433D-B356-EC86DB83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9775"/>
            <a:ext cx="5353050" cy="1914525"/>
          </a:xfrm>
          <a:prstGeom xmlns:a="http://schemas.openxmlformats.org/drawingml/2006/main" prst="roundRect">
            <a:avLst>
              <a:gd name="adj" fmla="val 7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 lIns="152400" tIns="428625" rIns="1524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Core + protocol + Skills</a:t>
            </a:r>
            <a:endParaRPr sz="112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72B8F5C6-D460-4FAC-8053-4BD50109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1619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A · LOCAL TESTS</a:t>
            </a:r>
            <a:endParaRPr sz="660" b="1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8C5B8A03-210F-4C04-8EC2-31751102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7E506D3B-798B-428E-8D46-65F4B74B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9775"/>
            <a:ext cx="5353050" cy="1914525"/>
          </a:xfrm>
          <a:prstGeom xmlns:a="http://schemas.openxmlformats.org/drawingml/2006/main" prst="roundRect">
            <a:avLst>
              <a:gd name="adj" fmla="val 7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  <p:txBody>
          <a:bodyPr xmlns:a="http://schemas.openxmlformats.org/drawingml/2006/main" lIns="152400" tIns="428625" rIns="1524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React RXP Cockpit</a:t>
            </a:r>
            <a:endParaRPr sz="112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D92AFA89-6511-4AAA-924E-2628D520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33600"/>
            <a:ext cx="1619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B · FRONTEND</a:t>
            </a:r>
            <a:endParaRPr sz="660" b="1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4" name="直接连接符 43">
            <a:extLst xmlns:a="http://schemas.openxmlformats.org/drawingml/2006/main">
              <a:ext uri="{FF2B5EF4-FFF2-40B4-BE49-F238E27FC236}">
                <a16:creationId xmlns:a16="http://schemas.microsoft.com/office/drawing/2014/main" id="{812FBDFB-A1C0-4770-B72F-FB20DAF2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5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12A0FF05-3C37-4962-BBDD-6E2145C3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52900"/>
            <a:ext cx="5353050" cy="1914525"/>
          </a:xfrm>
          <a:prstGeom xmlns:a="http://schemas.openxmlformats.org/drawingml/2006/main" prst="roundRect">
            <a:avLst>
              <a:gd name="adj" fmla="val 7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8AFC7"/>
            </a:solidFill>
            <a:prstDash val="solid"/>
          </a:ln>
        </p:spPr>
        <p:txBody>
          <a:bodyPr xmlns:a="http://schemas.openxmlformats.org/drawingml/2006/main" lIns="152400" tIns="428625" rIns="1524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AgentTeams + PostgreSQL</a:t>
            </a:r>
            <a:endParaRPr sz="112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6" name="圆角矩形 45">
            <a:extLst xmlns:a="http://schemas.openxmlformats.org/drawingml/2006/main">
              <a:ext uri="{FF2B5EF4-FFF2-40B4-BE49-F238E27FC236}">
                <a16:creationId xmlns:a16="http://schemas.microsoft.com/office/drawing/2014/main" id="{934F95F5-1FC5-45C4-8990-243D87A9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76725"/>
            <a:ext cx="1619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BFD"/>
          </a:solidFill>
          <a:ln xmlns:a="http://schemas.openxmlformats.org/drawingml/2006/main" w="9525">
            <a:solidFill>
              <a:srgbClr val="08AFC7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C · INTEGRATIONS</a:t>
            </a:r>
            <a:endParaRPr sz="660" b="1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7" name="直接连接符 46">
            <a:extLst xmlns:a="http://schemas.openxmlformats.org/drawingml/2006/main">
              <a:ext uri="{FF2B5EF4-FFF2-40B4-BE49-F238E27FC236}">
                <a16:creationId xmlns:a16="http://schemas.microsoft.com/office/drawing/2014/main" id="{9FC54E1A-3883-449E-B20C-B084F18D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67275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8" name="圆角矩形 47">
            <a:extLst xmlns:a="http://schemas.openxmlformats.org/drawingml/2006/main">
              <a:ext uri="{FF2B5EF4-FFF2-40B4-BE49-F238E27FC236}">
                <a16:creationId xmlns:a16="http://schemas.microsoft.com/office/drawing/2014/main" id="{1791F898-7E78-47C1-AC05-A782C686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52900"/>
            <a:ext cx="5353050" cy="1914525"/>
          </a:xfrm>
          <a:prstGeom xmlns:a="http://schemas.openxmlformats.org/drawingml/2006/main" prst="roundRect">
            <a:avLst>
              <a:gd name="adj" fmla="val 7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59669"/>
            </a:solidFill>
            <a:prstDash val="solid"/>
          </a:ln>
        </p:spPr>
        <p:txBody>
          <a:bodyPr xmlns:a="http://schemas.openxmlformats.org/drawingml/2006/main" lIns="152400" tIns="428625" rIns="1524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Strict corpus</a:t>
            </a:r>
            <a:endParaRPr sz="112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DCA470DF-79AB-4F78-BE92-CDE46E14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76725"/>
            <a:ext cx="1619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D · BENCHMARK</a:t>
            </a:r>
            <a:endParaRPr sz="660" b="1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0" name="直接连接符 49">
            <a:extLst xmlns:a="http://schemas.openxmlformats.org/drawingml/2006/main">
              <a:ext uri="{FF2B5EF4-FFF2-40B4-BE49-F238E27FC236}">
                <a16:creationId xmlns:a16="http://schemas.microsoft.com/office/drawing/2014/main" id="{B0FE994B-AB66-4B0C-8204-ABAD25EC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67275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4D292426-B19B-4E58-A8C4-1FAA5E31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209</a:t>
            </a:r>
            <a:endParaRPr sz="150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F32374D2-D6B1-4C46-B3DB-07D7B07C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default suite PASS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12CEC126-BFC6-4464-AE78-C86111B3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8575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Ruff</a:t>
            </a:r>
            <a:endParaRPr sz="150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087DCE59-F96A-4A89-BC3E-E2661384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1051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PASS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189AF905-1D1E-40D8-AB8E-975BE602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575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MyPy</a:t>
            </a:r>
            <a:endParaRPr sz="150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09ABC1DD-331B-42D5-8BBB-FA99CD20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1051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PASS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72D4D76E-63F0-47FF-8DFA-0F245F05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3852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2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2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API 56 · RXP 26 · Skills 6 · Proof 1 · Benchmark 28
Acceptance 16 · AgentTeams 28 · Experiments 13 · MCP 23 · Web 12</a:t>
            </a:r>
            <a:endParaRPr sz="72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3D757981-4287-4861-83EA-FE1B5F43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575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12</a:t>
            </a:r>
            <a:endParaRPr sz="1500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83767E5F-10C5-4435-A078-32FE9FFA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051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Web tests PASS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3250CCD3-5A63-4620-8FBC-8A428152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Build</a:t>
            </a:r>
            <a:endParaRPr sz="1500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930B5B39-DAA7-413A-9134-029B9AFB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051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Vite PASS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E49549CD-B051-4888-BE5C-4911CD50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575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0</a:t>
            </a:r>
            <a:endParaRPr sz="1500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F5CB65D6-43F2-4235-AFE8-80C2C29D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051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console errors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D4E6FB19-455C-43D0-A8EA-61FC8922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575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UI</a:t>
            </a:r>
            <a:endParaRPr sz="1500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AF2E7C88-94C1-44D3-8B36-67EC3983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1051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truth labels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441D0559-2C72-4E83-9EA5-F8E4AF90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3852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0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1600×1000 与 390×844 已检查；新增 semifinal acceptance path 可切换。 </a:t>
            </a:r>
            <a:endParaRPr sz="70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2C89F79A-643D-4484-BF66-6C4370A6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006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28</a:t>
            </a:r>
            <a:endParaRPr sz="1500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FF93BC7D-D82F-4DD5-918F-BCBFB89B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482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AgentTeams tests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8CC93DC6-28C0-4F9B-B7C4-BD396FA3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0006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27</a:t>
            </a:r>
            <a:endParaRPr sz="1500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E479CC87-ADA5-4A39-BD40-A65FE7E9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2482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PostgreSQL 16.14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3BB2495C-F205-42B4-B05D-3C26BB13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0006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NOT RUN</a:t>
            </a:r>
            <a:endParaRPr sz="1500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4EB44E2F-FCF2-4A84-8618-9E008580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2482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external live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41365FFB-CBA0-4EE3-ACC9-7E6A507F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bridge/trace 与本地 PG 实库通过；official AgentTeams、GPU、PolarDB 不在此结果中。</a:t>
            </a:r>
            <a:endParaRPr sz="70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8EB67261-E2DD-427E-A8FD-4A6A5617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00062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14</a:t>
            </a:r>
            <a:endParaRPr sz="1500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2D74E638-ADAB-4296-BB5B-053479E9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24827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attack scenarios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D3C3CD25-DA3A-418E-B500-C19D6415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500062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3</a:t>
            </a:r>
            <a:endParaRPr sz="1500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6CDE96AC-B445-4E84-A2B4-EE09AC85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52482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profiles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C610AC64-7E61-4FAD-B00B-21849B50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00062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ORACLE</a:t>
            </a:r>
            <a:endParaRPr sz="1500" b="1" i="0">
              <a:solidFill>
                <a:srgbClr val="D9770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94B44A51-51A3-4212-AE0B-FF3B4E08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248275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independent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1C15153B-5D26-422D-B1E9-3182E430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81650"/>
            <a:ext cx="493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8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8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dev gate 证明 local core；release gate 无 live target 时预期非零退出。</a:t>
            </a:r>
            <a:endParaRPr sz="68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675A28AF-71E2-42FF-8991-E182A99E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6191250"/>
            <a:ext cx="988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证据命令：make test · pytest tests/postgres · ego-semifinal-bundle verify · make package</a:t>
            </a:r>
            <a:endParaRPr sz="70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8331711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38AD5C5-917F-46F3-9DCF-9C2E0660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Failure first · Recovery is evidence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5FE61B3-10CF-4C36-B145-AE61804D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8175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21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异常不是旁支：它必须改变 route、state 或 release verdict</a:t>
            </a:r>
            <a:endParaRPr sz="217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28819468-BC3E-4475-B561-1335A304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57300"/>
            <a:ext cx="1000125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8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8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每个 fault 都由 corpus 定义，adapter 输出受独立 oracle 与 schema-aware trace verifier 双重检查。</a:t>
            </a:r>
            <a:endParaRPr sz="885" b="1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89BCABAD-3B60-433D-B356-EC86DB83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9775"/>
            <a:ext cx="5353050" cy="1914525"/>
          </a:xfrm>
          <a:prstGeom xmlns:a="http://schemas.openxmlformats.org/drawingml/2006/main" prst="roundRect">
            <a:avLst>
              <a:gd name="adj" fmla="val 7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 lIns="152400" tIns="428625" rIns="1524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超时不伪装成功</a:t>
            </a:r>
            <a:endParaRPr sz="112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72B8F5C6-D460-4FAC-8053-4BD50109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1619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A · TIMEOUT</a:t>
            </a:r>
            <a:endParaRPr sz="660" b="1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8C5B8A03-210F-4C04-8EC2-31751102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7E506D3B-798B-428E-8D46-65F4B74B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9775"/>
            <a:ext cx="5353050" cy="1914525"/>
          </a:xfrm>
          <a:prstGeom xmlns:a="http://schemas.openxmlformats.org/drawingml/2006/main" prst="roundRect">
            <a:avLst>
              <a:gd name="adj" fmla="val 7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  <p:txBody>
          <a:bodyPr xmlns:a="http://schemas.openxmlformats.org/drawingml/2006/main" lIns="152400" tIns="428625" rIns="1524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并发冲突需显式解决</a:t>
            </a:r>
            <a:endParaRPr sz="112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D92AFA89-6511-4AAA-924E-2628D520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33600"/>
            <a:ext cx="1619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B · CONFLICT</a:t>
            </a:r>
            <a:endParaRPr sz="660" b="1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4" name="直接连接符 43">
            <a:extLst xmlns:a="http://schemas.openxmlformats.org/drawingml/2006/main">
              <a:ext uri="{FF2B5EF4-FFF2-40B4-BE49-F238E27FC236}">
                <a16:creationId xmlns:a16="http://schemas.microsoft.com/office/drawing/2014/main" id="{812FBDFB-A1C0-4770-B72F-FB20DAF2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5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12A0FF05-3C37-4962-BBDD-6E2145C3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52900"/>
            <a:ext cx="5353050" cy="1914525"/>
          </a:xfrm>
          <a:prstGeom xmlns:a="http://schemas.openxmlformats.org/drawingml/2006/main" prst="roundRect">
            <a:avLst>
              <a:gd name="adj" fmla="val 7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8AFC7"/>
            </a:solidFill>
            <a:prstDash val="solid"/>
          </a:ln>
        </p:spPr>
        <p:txBody>
          <a:bodyPr xmlns:a="http://schemas.openxmlformats.org/drawingml/2006/main" lIns="152400" tIns="428625" rIns="1524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重启后不丢 causal chain</a:t>
            </a:r>
            <a:endParaRPr sz="112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6" name="圆角矩形 45">
            <a:extLst xmlns:a="http://schemas.openxmlformats.org/drawingml/2006/main">
              <a:ext uri="{FF2B5EF4-FFF2-40B4-BE49-F238E27FC236}">
                <a16:creationId xmlns:a16="http://schemas.microsoft.com/office/drawing/2014/main" id="{934F95F5-1FC5-45C4-8990-243D87A9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76725"/>
            <a:ext cx="1619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BFD"/>
          </a:solidFill>
          <a:ln xmlns:a="http://schemas.openxmlformats.org/drawingml/2006/main" w="9525">
            <a:solidFill>
              <a:srgbClr val="08AFC7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C · CRASH / RESUME</a:t>
            </a:r>
            <a:endParaRPr sz="660" b="1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7" name="直接连接符 46">
            <a:extLst xmlns:a="http://schemas.openxmlformats.org/drawingml/2006/main">
              <a:ext uri="{FF2B5EF4-FFF2-40B4-BE49-F238E27FC236}">
                <a16:creationId xmlns:a16="http://schemas.microsoft.com/office/drawing/2014/main" id="{9FC54E1A-3883-449E-B20C-B084F18D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67275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8" name="圆角矩形 47">
            <a:extLst xmlns:a="http://schemas.openxmlformats.org/drawingml/2006/main">
              <a:ext uri="{FF2B5EF4-FFF2-40B4-BE49-F238E27FC236}">
                <a16:creationId xmlns:a16="http://schemas.microsoft.com/office/drawing/2014/main" id="{1791F898-7E78-47C1-AC05-A782C686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52900"/>
            <a:ext cx="5353050" cy="1914525"/>
          </a:xfrm>
          <a:prstGeom xmlns:a="http://schemas.openxmlformats.org/drawingml/2006/main" prst="roundRect">
            <a:avLst>
              <a:gd name="adj" fmla="val 7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59669"/>
            </a:solidFill>
            <a:prstDash val="solid"/>
          </a:ln>
        </p:spPr>
        <p:txBody>
          <a:bodyPr xmlns:a="http://schemas.openxmlformats.org/drawingml/2006/main" lIns="152400" tIns="428625" rIns="1524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篡改与重放直接阻断</a:t>
            </a:r>
            <a:endParaRPr sz="112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DCA470DF-79AB-4F78-BE92-CDE46E14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76725"/>
            <a:ext cx="1619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D · TAMPER / REPLAY</a:t>
            </a:r>
            <a:endParaRPr sz="660" b="1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0" name="直接连接符 49">
            <a:extLst xmlns:a="http://schemas.openxmlformats.org/drawingml/2006/main">
              <a:ext uri="{FF2B5EF4-FFF2-40B4-BE49-F238E27FC236}">
                <a16:creationId xmlns:a16="http://schemas.microsoft.com/office/drawing/2014/main" id="{B0FE994B-AB66-4B0C-8204-ABAD25EC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67275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4D292426-B19B-4E58-A8C4-1FAA5E31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deadline</a:t>
            </a:r>
            <a:endParaRPr sz="150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F32374D2-D6B1-4C46-B3DB-07D7B07C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subprocess timeout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12CEC126-BFC6-4464-AE78-C86111B3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8575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cancel</a:t>
            </a:r>
            <a:endParaRPr sz="150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087DCE59-F96A-4A89-BC3E-E2661384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1051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structured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189AF905-1D1E-40D8-AB8E-975BE602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575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reassign</a:t>
            </a:r>
            <a:endParaRPr sz="150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09ABC1DD-331B-42D5-8BBB-FA99CD20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1051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observable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72D4D76E-63F0-47FF-8DFA-0F245F05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3852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2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2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worker 卡住 → timeout event → bounded reassign；没有终态 trace 就不能 PASS。</a:t>
            </a:r>
            <a:endParaRPr sz="72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3D757981-4287-4861-83EA-FE1B5F43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575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409</a:t>
            </a:r>
            <a:endParaRPr sz="1500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83767E5F-10C5-4435-A078-32FE9FFA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051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optimistic conflict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3250CCD3-5A63-4620-8FBC-8A428152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replan</a:t>
            </a:r>
            <a:endParaRPr sz="1500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930B5B39-DAA7-413A-9134-029B9AFB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051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generation++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E49549CD-B051-4888-BE5C-4911CD50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575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hash</a:t>
            </a:r>
            <a:endParaRPr sz="1500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F5CB65D6-43F2-4235-AFE8-80C2C29D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051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preserved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D4E6FB19-455C-43D0-A8EA-61FC8922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575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no overwrite</a:t>
            </a:r>
            <a:endParaRPr sz="1500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AF2E7C88-94C1-44D3-8B36-67EC3983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1051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same run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441D0559-2C72-4E83-9EA5-F8E4AF90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3852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0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两条并发链由事务 / expected_version 执法；旧 generation 不可静默覆盖新计划。</a:t>
            </a:r>
            <a:endParaRPr sz="70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2C89F79A-643D-4484-BF66-6C4370A6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006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checkpoint</a:t>
            </a:r>
            <a:endParaRPr sz="1500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FF93BC7D-D82F-4DD5-918F-BCBFB89B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482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persist first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8CC93DC6-28C0-4F9B-B7C4-BD396FA3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0006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restart</a:t>
            </a:r>
            <a:endParaRPr sz="1500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E479CC87-ADA5-4A39-BD40-A65FE7E9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2482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fresh process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3BB2495C-F205-42B4-B05D-3C26BB13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0006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resume</a:t>
            </a:r>
            <a:endParaRPr sz="1500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4EB44E2F-FCF2-4A84-8618-9E008580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2482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same trace refs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41365FFB-CBA0-4EE3-ACC9-7E6A507F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SQLite local 与 PostgreSQL profile 都要求重启后读取 authoritative state。</a:t>
            </a:r>
            <a:endParaRPr sz="70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8EB67261-E2DD-427E-A8FD-4A6A5617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00062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nonce</a:t>
            </a:r>
            <a:endParaRPr sz="1500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2D74E638-ADAB-4296-BB5B-053479E9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24827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replay rejected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D3C3CD25-DA3A-418E-B500-C19D6415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500062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digest</a:t>
            </a:r>
            <a:endParaRPr sz="1500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6CDE96AC-B445-4E84-A2B4-EE09AC85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52482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tamper detected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C610AC64-7E61-4FAD-B00B-21849B50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00062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Decision</a:t>
            </a:r>
            <a:endParaRPr sz="1500" b="1" i="0">
              <a:solidFill>
                <a:srgbClr val="D9770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94B44A51-51A3-4212-AE0B-FF3B4E08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248275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withheld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1C15153B-5D26-422D-B1E9-3182E430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81650"/>
            <a:ext cx="493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8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8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错误本身进入 evidence bundle；error / omission / timeout 都计入失败率。</a:t>
            </a:r>
            <a:endParaRPr sz="68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675A28AF-71E2-42FF-8991-E182A99E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6191250"/>
            <a:ext cx="988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同一 correlation：scenario_id · project/task · rxp run/cell · invocation · evidence root · verdict</a:t>
            </a:r>
            <a:endParaRPr sz="70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8331711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0C6F0F8-13BF-426B-BD07-4E2DB554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可迁移 · Database &amp; deployment profiles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E724FD2-4947-41BE-B616-A213D341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8175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21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协议不绑定某个模型；状态语义在 local 与 production profile 中保持一致</a:t>
            </a:r>
            <a:endParaRPr sz="21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58C9ADC-CD90-4316-B6C7-A2972B1E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2CCD4B7-6EE4-4914-816E-B563E675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DUAL</a:t>
            </a:r>
            <a:endParaRPr sz="18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2C9DBB90-66EB-4982-AEFB-5CE4E2B4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38250"/>
            <a:ext cx="962025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SQLite 仅作 dev fallback；PostgreSQL 是生产路径，承载并发、权限、通知与不可变账本。PolarDB 仍需云端实证。</a:t>
            </a:r>
            <a:endParaRPr sz="975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D5BFE9B5-0C44-47E1-BC72-E1671FA7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47875"/>
            <a:ext cx="11144250" cy="4000500"/>
          </a:xfrm>
          <a:prstGeom xmlns:a="http://schemas.openxmlformats.org/drawingml/2006/main" prst="roundRect">
            <a:avLst>
              <a:gd name="adj" fmla="val 38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4241CC96-BF4A-4CCF-9C37-954CB0A8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09800"/>
            <a:ext cx="3238500" cy="36004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59669"/>
            </a:solidFill>
            <a:prstDash val="solid"/>
          </a:ln>
        </p:spPr>
        <p:txBody>
          <a:bodyPr xmlns:a="http://schemas.openxmlformats.org/drawingml/2006/main" lIns="142875" tIns="561975" rIns="142875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6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6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可复用控制内核</a:t>
            </a:r>
            <a:endParaRPr sz="116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圆角矩形 40">
            <a:extLst xmlns:a="http://schemas.openxmlformats.org/drawingml/2006/main">
              <a:ext uri="{FF2B5EF4-FFF2-40B4-BE49-F238E27FC236}">
                <a16:creationId xmlns:a16="http://schemas.microsoft.com/office/drawing/2014/main" id="{6CA898D6-D9F4-4B4B-A990-339895BA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185737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RXP + AGENTTEAMS + SKILLS</a:t>
            </a:r>
            <a:endParaRPr sz="655" b="1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2" name="直接连接符 41">
            <a:extLst xmlns:a="http://schemas.openxmlformats.org/drawingml/2006/main">
              <a:ext uri="{FF2B5EF4-FFF2-40B4-BE49-F238E27FC236}">
                <a16:creationId xmlns:a16="http://schemas.microsoft.com/office/drawing/2014/main" id="{C8FF61E6-AB23-478A-B687-2472F3C0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E5702404-F390-4961-B2F1-9063E277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209800"/>
            <a:ext cx="3238500" cy="36004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C2626"/>
            </a:solidFill>
            <a:prstDash val="solid"/>
          </a:ln>
        </p:spPr>
        <p:txBody>
          <a:bodyPr xmlns:a="http://schemas.openxmlformats.org/drawingml/2006/main" lIns="142875" tIns="561975" rIns="142875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6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6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场景只替换 schema / handler</a:t>
            </a:r>
            <a:endParaRPr sz="116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4" name="圆角矩形 43">
            <a:extLst xmlns:a="http://schemas.openxmlformats.org/drawingml/2006/main">
              <a:ext uri="{FF2B5EF4-FFF2-40B4-BE49-F238E27FC236}">
                <a16:creationId xmlns:a16="http://schemas.microsoft.com/office/drawing/2014/main" id="{85E574DB-7EAD-4084-9DC7-45F48FE6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43150"/>
            <a:ext cx="185737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PORTABLE RECIPES</a:t>
            </a:r>
            <a:endParaRPr sz="655" b="1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直接连接符 44">
            <a:extLst xmlns:a="http://schemas.openxmlformats.org/drawingml/2006/main">
              <a:ext uri="{FF2B5EF4-FFF2-40B4-BE49-F238E27FC236}">
                <a16:creationId xmlns:a16="http://schemas.microsoft.com/office/drawing/2014/main" id="{5CCE3FFD-9BD9-4B41-A9EF-84ACAC20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0515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6" name="圆角矩形 45">
            <a:extLst xmlns:a="http://schemas.openxmlformats.org/drawingml/2006/main">
              <a:ext uri="{FF2B5EF4-FFF2-40B4-BE49-F238E27FC236}">
                <a16:creationId xmlns:a16="http://schemas.microsoft.com/office/drawing/2014/main" id="{60A8EB61-9BD0-4BB5-9E7D-005DB8CD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209800"/>
            <a:ext cx="3971925" cy="3600450"/>
          </a:xfrm>
          <a:prstGeom xmlns:a="http://schemas.openxmlformats.org/drawingml/2006/main" prst="roundRect">
            <a:avLst>
              <a:gd name="adj" fmla="val 42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142875" tIns="561975" rIns="142875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6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6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数据底座分级</a:t>
            </a:r>
            <a:endParaRPr sz="116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9E119B21-DA77-4D5A-8978-7ED42EE2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43150"/>
            <a:ext cx="185737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INTEGRATION TRUTH</a:t>
            </a:r>
            <a:endParaRPr sz="655" b="1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8" name="直接连接符 47">
            <a:extLst xmlns:a="http://schemas.openxmlformats.org/drawingml/2006/main">
              <a:ext uri="{FF2B5EF4-FFF2-40B4-BE49-F238E27FC236}">
                <a16:creationId xmlns:a16="http://schemas.microsoft.com/office/drawing/2014/main" id="{5E4C2D1E-86E5-4CA6-B998-46D8E719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05150"/>
            <a:ext cx="3686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747C5908-0BA7-44AF-8990-34C1DE91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2857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7620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655" b="1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3751AC06-E475-4CD8-B79D-40EBEDB1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57550"/>
            <a:ext cx="2543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Model training: arms × seeds</a:t>
            </a:r>
            <a:endParaRPr sz="71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1" name="圆角矩形 50">
            <a:extLst xmlns:a="http://schemas.openxmlformats.org/drawingml/2006/main">
              <a:ext uri="{FF2B5EF4-FFF2-40B4-BE49-F238E27FC236}">
                <a16:creationId xmlns:a16="http://schemas.microsoft.com/office/drawing/2014/main" id="{F55664DE-1FBF-4915-921F-3BC6E6D1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2857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7620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655" b="1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CF3A273F-803C-4DD4-8322-64C23041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38550"/>
            <a:ext cx="2543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Data pipeline: source × transform</a:t>
            </a:r>
            <a:endParaRPr sz="71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圆角矩形 52">
            <a:extLst xmlns:a="http://schemas.openxmlformats.org/drawingml/2006/main">
              <a:ext uri="{FF2B5EF4-FFF2-40B4-BE49-F238E27FC236}">
                <a16:creationId xmlns:a16="http://schemas.microsoft.com/office/drawing/2014/main" id="{8CE97DE0-4708-4167-8380-F783E1AE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2857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7620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655" b="1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3677B8D2-1218-4D7A-91DD-DC24FDCF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19550"/>
            <a:ext cx="2543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Robotics: policy × scene × seed</a:t>
            </a:r>
            <a:endParaRPr sz="71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5" name="圆角矩形 54">
            <a:extLst xmlns:a="http://schemas.openxmlformats.org/drawingml/2006/main">
              <a:ext uri="{FF2B5EF4-FFF2-40B4-BE49-F238E27FC236}">
                <a16:creationId xmlns:a16="http://schemas.microsoft.com/office/drawing/2014/main" id="{E601D103-00FA-476D-9F28-83C5FAEC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2857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7620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655" b="1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AB6A1986-ACB6-4298-B904-91622EAC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2543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Eval: model × benchmark slice</a:t>
            </a:r>
            <a:endParaRPr sz="71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FE72D818-D3CA-4402-AAA8-D1130790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81550"/>
            <a:ext cx="2857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7620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655" b="1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B4D35558-9493-4847-87F5-D069C9AE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81550"/>
            <a:ext cx="2543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Regulated workflow: maker/checker</a:t>
            </a:r>
            <a:endParaRPr sz="71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9" name="圆角矩形 58">
            <a:extLst xmlns:a="http://schemas.openxmlformats.org/drawingml/2006/main">
              <a:ext uri="{FF2B5EF4-FFF2-40B4-BE49-F238E27FC236}">
                <a16:creationId xmlns:a16="http://schemas.microsoft.com/office/drawing/2014/main" id="{40889D80-E330-4970-AD6D-B42C3F9E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62550"/>
            <a:ext cx="2857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7620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655" b="1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1BC3A526-6E98-41E5-A9CD-A0FDD7AB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62550"/>
            <a:ext cx="2543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AutoResearch: hypothesis queue</a:t>
            </a:r>
            <a:endParaRPr sz="71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F7E7A7CB-F0C0-4947-A6F7-16DFAAA0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53075"/>
            <a:ext cx="2905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共同对象：Intent · Grant · Receipt · Evidence · Decision · MatrixLedger</a:t>
            </a:r>
            <a:endParaRPr sz="660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350DB61D-E0CD-497F-A621-19EB17EC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2861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领域 metric / evaluator</a:t>
            </a:r>
            <a:endParaRPr sz="715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819E8E02-C24E-45B3-80A2-F358418D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286125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由 Skill handler 注入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981C5E46-8C66-457C-A413-8BBDC288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619500"/>
            <a:ext cx="289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4E29F68B-ED3D-42BC-A0E5-7867362C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733800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资源 adapter</a:t>
            </a:r>
            <a:endParaRPr sz="715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690A2DC3-BBD2-4D71-8B23-76B75491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7338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local / Slurm / K8s / cloud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7" name="直接连接符 66">
            <a:extLst xmlns:a="http://schemas.openxmlformats.org/drawingml/2006/main">
              <a:ext uri="{FF2B5EF4-FFF2-40B4-BE49-F238E27FC236}">
                <a16:creationId xmlns:a16="http://schemas.microsoft.com/office/drawing/2014/main" id="{8CF7F671-B868-4C1F-A53E-D18E886B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067175"/>
            <a:ext cx="289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1BB79993-3C02-47B9-8DF4-B44976B1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18147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证据 taxonomy</a:t>
            </a:r>
            <a:endParaRPr sz="715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FE262294-D558-47F6-9D2D-4593EF3B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181475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按合规场景扩展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0" name="直接连接符 69">
            <a:extLst xmlns:a="http://schemas.openxmlformats.org/drawingml/2006/main">
              <a:ext uri="{FF2B5EF4-FFF2-40B4-BE49-F238E27FC236}">
                <a16:creationId xmlns:a16="http://schemas.microsoft.com/office/drawing/2014/main" id="{088C20F8-0B76-4B5B-9090-7DB597AB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514850"/>
            <a:ext cx="289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AB90EEF4-2328-4732-98D9-4FA136B9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629150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人类权限线</a:t>
            </a:r>
            <a:endParaRPr sz="715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45CB052C-FE19-4717-A228-909531CB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6291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R0–R3 policy 配置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3" name="直接连接符 72">
            <a:extLst xmlns:a="http://schemas.openxmlformats.org/drawingml/2006/main">
              <a:ext uri="{FF2B5EF4-FFF2-40B4-BE49-F238E27FC236}">
                <a16:creationId xmlns:a16="http://schemas.microsoft.com/office/drawing/2014/main" id="{9992F55E-0019-430F-B239-38B4048B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962525"/>
            <a:ext cx="289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7743DBA3-6102-4792-87FA-CA4D32A6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0768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结论规则</a:t>
            </a:r>
            <a:endParaRPr sz="715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A03ED717-5EE8-42C2-998F-6D82FB97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076825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acceptance schema versioned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3D92E58D-7112-4AEC-BB80-C57BDB7C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553075"/>
            <a:ext cx="2895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4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4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协议层不读取 secret；执行 adapter 只接短期凭证</a:t>
            </a:r>
            <a:endParaRPr sz="645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6EB93FD0-15CD-46DA-8479-3AEBADD7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57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666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已验证</a:t>
            </a:r>
            <a:endParaRPr sz="67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6420AC64-7EFC-4F85-B49E-B3E55CE3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57550"/>
            <a:ext cx="30099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F0"/>
            </a:solidFill>
            <a:prstDash val="solid"/>
          </a:ln>
        </p:spPr>
        <p:txBody>
          <a:bodyPr xmlns:a="http://schemas.openxmlformats.org/drawingml/2006/main" lIns="66675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PostgreSQL 16.14 · 27 integration tests</a:t>
            </a:r>
            <a:endParaRPr sz="67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B873569D-4AC0-432D-A577-DC58495E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290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666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已实现</a:t>
            </a:r>
            <a:endParaRPr sz="67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0987A116-DFC1-4580-BBD2-BA9EB013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29025"/>
            <a:ext cx="30099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F0"/>
            </a:solidFill>
            <a:prstDash val="solid"/>
          </a:ln>
        </p:spPr>
        <p:txBody>
          <a:bodyPr xmlns:a="http://schemas.openxmlformats.org/drawingml/2006/main" lIns="66675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4 roles · RLS · append-only · LISTEN/NOTIFY</a:t>
            </a:r>
            <a:endParaRPr sz="67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B351FABD-F0D8-484B-8B4D-E282A118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005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666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未验证</a:t>
            </a:r>
            <a:endParaRPr sz="67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0CF4B22C-C4C5-4B7F-9409-31E606D9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00500"/>
            <a:ext cx="30099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F0"/>
            </a:solidFill>
            <a:prstDash val="solid"/>
          </a:ln>
        </p:spPr>
        <p:txBody>
          <a:bodyPr xmlns:a="http://schemas.openxmlformats.org/drawingml/2006/main" lIns="66675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PolarDB · PITR · read/write split · cloud IAM</a:t>
            </a:r>
            <a:endParaRPr sz="67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EE7D2F01-FD43-4C7B-8269-D6A2BF0E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3719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666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迁移</a:t>
            </a:r>
            <a:endParaRPr sz="67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4" name="矩形 83">
            <a:extLst xmlns:a="http://schemas.openxmlformats.org/drawingml/2006/main">
              <a:ext uri="{FF2B5EF4-FFF2-40B4-BE49-F238E27FC236}">
                <a16:creationId xmlns:a16="http://schemas.microsoft.com/office/drawing/2014/main" id="{E0B6F3AE-3438-43C6-B3E0-15C13380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71975"/>
            <a:ext cx="30099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F0"/>
            </a:solidFill>
            <a:prstDash val="solid"/>
          </a:ln>
        </p:spPr>
        <p:txBody>
          <a:bodyPr xmlns:a="http://schemas.openxmlformats.org/drawingml/2006/main" lIns="66675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per-test schema · checksummed apply / verify</a:t>
            </a:r>
            <a:endParaRPr sz="67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4CAA6CD2-6C12-4287-9A1A-6B2374B7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7434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666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回退</a:t>
            </a:r>
            <a:endParaRPr sz="67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6" name="矩形 85">
            <a:extLst xmlns:a="http://schemas.openxmlformats.org/drawingml/2006/main">
              <a:ext uri="{FF2B5EF4-FFF2-40B4-BE49-F238E27FC236}">
                <a16:creationId xmlns:a16="http://schemas.microsoft.com/office/drawing/2014/main" id="{E421CE5F-AD02-4EDC-A75E-21387C71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43450"/>
            <a:ext cx="30099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F0"/>
            </a:solidFill>
            <a:prstDash val="solid"/>
          </a:ln>
        </p:spPr>
        <p:txBody>
          <a:bodyPr xmlns:a="http://schemas.openxmlformats.org/drawingml/2006/main" lIns="66675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explicit SQLite dev only · PG never silent fallback</a:t>
            </a:r>
            <a:endParaRPr sz="67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7" name="矩形 86">
            <a:extLst xmlns:a="http://schemas.openxmlformats.org/drawingml/2006/main">
              <a:ext uri="{FF2B5EF4-FFF2-40B4-BE49-F238E27FC236}">
                <a16:creationId xmlns:a16="http://schemas.microsoft.com/office/drawing/2014/main" id="{E0EC6BC3-C808-4A85-8CAA-94FEF6A5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149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666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目标</a:t>
            </a:r>
            <a:endParaRPr sz="67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8" name="矩形 87">
            <a:extLst xmlns:a="http://schemas.openxmlformats.org/drawingml/2006/main">
              <a:ext uri="{FF2B5EF4-FFF2-40B4-BE49-F238E27FC236}">
                <a16:creationId xmlns:a16="http://schemas.microsoft.com/office/drawing/2014/main" id="{B1A63712-0854-4D83-8354-36935E4A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14925"/>
            <a:ext cx="30099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F0"/>
            </a:solidFill>
            <a:prstDash val="solid"/>
          </a:ln>
        </p:spPr>
        <p:txBody>
          <a:bodyPr xmlns:a="http://schemas.openxmlformats.org/drawingml/2006/main" lIns="66675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preflight PASS + restore / failover drill</a:t>
            </a:r>
            <a:endParaRPr sz="67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9" name="矩形 88">
            <a:extLst xmlns:a="http://schemas.openxmlformats.org/drawingml/2006/main">
              <a:ext uri="{FF2B5EF4-FFF2-40B4-BE49-F238E27FC236}">
                <a16:creationId xmlns:a16="http://schemas.microsoft.com/office/drawing/2014/main" id="{192F76DF-4B25-4B7C-8D7A-36B8766A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55307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所有 profile 共用相同 state / idempotency / evidence invariants；差异只在 capability disclosure</a:t>
            </a:r>
            <a:endParaRPr sz="65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5870962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8F51AC9-E9C1-469C-92B4-90812286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开源 · Claim ledger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33930BA-3388-4FD1-BAEF-65D94FC4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77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206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6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每一条判断都能落到命令、文件、artifact 或明确的 NOT RUN</a:t>
            </a:r>
            <a:endParaRPr sz="206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AB272DA-0D45-43C0-B598-0A3A0B35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90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15</a:t>
            </a:r>
            <a:endParaRPr sz="90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48BD6755-16E5-4063-8240-EABFB82A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57300"/>
            <a:ext cx="990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6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6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Apache-2.0 核心 + schemas + fixtures + benchmark；私有数据、密钥和真实 GPU 权限不进仓库。</a:t>
            </a:r>
            <a:endParaRPr sz="96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3991F543-D958-4BCB-9B7A-CE4DA3A7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28825"/>
            <a:ext cx="5381625" cy="3990975"/>
          </a:xfrm>
          <a:prstGeom xmlns:a="http://schemas.openxmlformats.org/drawingml/2006/main" prst="roundRect">
            <a:avLst>
              <a:gd name="adj" fmla="val 381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  <p:txBody>
          <a:bodyPr xmlns:a="http://schemas.openxmlformats.org/drawingml/2006/main" lIns="161925" tIns="428625" rIns="161925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现在拥有什么</a:t>
            </a:r>
            <a:endParaRPr sz="127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57757CFB-0540-45BD-BB5A-4F141019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12954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EVIDENCE LADDER</a:t>
            </a:r>
            <a:endParaRPr sz="675" b="1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圆角矩形 40">
            <a:extLst xmlns:a="http://schemas.openxmlformats.org/drawingml/2006/main">
              <a:ext uri="{FF2B5EF4-FFF2-40B4-BE49-F238E27FC236}">
                <a16:creationId xmlns:a16="http://schemas.microsoft.com/office/drawing/2014/main" id="{968A5B8D-27AC-48A1-A7D9-3044340B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5057775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5758DCD4-E3D4-4FF4-8B33-F0CE673D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33700"/>
            <a:ext cx="8763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EB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15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15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已运行</a:t>
            </a:r>
            <a:endParaRPr sz="615" b="1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47B7AF80-E280-4C50-922A-E7FCC060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905125"/>
            <a:ext cx="38004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0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local control plane + RXP cockpit</a:t>
            </a:r>
            <a:endParaRPr sz="80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2440CA1B-C191-495A-9E76-E18B1AA7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190875"/>
            <a:ext cx="4752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API / Web / RXP / Skill registry / strict benchmark；静态页面不冒充后端调用。</a:t>
            </a:r>
            <a:endParaRPr sz="65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4AF317DC-9987-471D-994F-D6F796B7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5057775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46" name="圆角矩形 45">
            <a:extLst xmlns:a="http://schemas.openxmlformats.org/drawingml/2006/main">
              <a:ext uri="{FF2B5EF4-FFF2-40B4-BE49-F238E27FC236}">
                <a16:creationId xmlns:a16="http://schemas.microsoft.com/office/drawing/2014/main" id="{6FA9BA64-76FB-4016-8DC6-DD10637E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67150"/>
            <a:ext cx="8763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1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1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已验证</a:t>
            </a:r>
            <a:endParaRPr sz="615" b="1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61E10AD4-5F99-4C3B-A6FF-2C253925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838575"/>
            <a:ext cx="38004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0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PostgreSQL 16.14 + AgentTeams bridge contracts</a:t>
            </a:r>
            <a:endParaRPr sz="80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547FF777-BE94-4933-8DEC-3DB0C456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24325"/>
            <a:ext cx="4752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PG 27 + bridge 28；账本篡改、receipt 重用、崩溃恢复与来源冒充均有负测。</a:t>
            </a:r>
            <a:endParaRPr sz="65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9F1D2208-9D63-4EA7-86B6-43A8CBDC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5057775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50" name="圆角矩形 49">
            <a:extLst xmlns:a="http://schemas.openxmlformats.org/drawingml/2006/main">
              <a:ext uri="{FF2B5EF4-FFF2-40B4-BE49-F238E27FC236}">
                <a16:creationId xmlns:a16="http://schemas.microsoft.com/office/drawing/2014/main" id="{D21FE314-427F-4650-86D5-3A3E3DAB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800600"/>
            <a:ext cx="8763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15" b="1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15" b="1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仍为 SKIP</a:t>
            </a:r>
            <a:endParaRPr sz="615" b="1">
              <a:solidFill>
                <a:srgbClr val="D9770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B175949F-9FD1-4BEC-8587-0FA57D84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772025"/>
            <a:ext cx="38004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0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official AgentTeams · single GPU · PolarDB / PITR</a:t>
            </a:r>
            <a:endParaRPr sz="80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2D13400D-5A89-46A5-8872-0BAE4525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057775"/>
            <a:ext cx="4752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没有可认证 origin、endpoint 与 same-run trace，就不把 contract 写成 live 成功。</a:t>
            </a:r>
            <a:endParaRPr sz="65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F9F19012-2C1F-4EAB-BC00-75F85F90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7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SYNTHETIC：托管 EgoLite 指标；Fashion-MNIST adapter 已实现，但 live origin 仍 UNVERIFIED。</a:t>
            </a:r>
            <a:endParaRPr sz="670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25ACF03F-7C16-43A9-AF12-4EDF318D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28825"/>
            <a:ext cx="5400675" cy="3990975"/>
          </a:xfrm>
          <a:prstGeom xmlns:a="http://schemas.openxmlformats.org/drawingml/2006/main" prst="roundRect">
            <a:avLst>
              <a:gd name="adj" fmla="val 3819"/>
            </a:avLst>
          </a:prstGeom>
          <a:solidFill xmlns:a="http://schemas.openxmlformats.org/drawingml/2006/main">
            <a:srgbClr val="0C1B33"/>
          </a:solidFill>
          <a:ln xmlns:a="http://schemas.openxmlformats.org/drawingml/2006/main" w="0">
            <a:solidFill>
              <a:srgbClr val="0C1B33"/>
            </a:solidFill>
            <a:prstDash val="solid"/>
          </a:ln>
        </p:spPr>
        <p:txBody>
          <a:bodyPr xmlns:a="http://schemas.openxmlformats.org/drawingml/2006/main" lIns="171450" tIns="428625" rIns="1714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复赛验收梯子</a:t>
            </a:r>
            <a:endParaRPr sz="12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5" name="圆角矩形 54">
            <a:extLst xmlns:a="http://schemas.openxmlformats.org/drawingml/2006/main">
              <a:ext uri="{FF2B5EF4-FFF2-40B4-BE49-F238E27FC236}">
                <a16:creationId xmlns:a16="http://schemas.microsoft.com/office/drawing/2014/main" id="{73272EF5-C138-4B34-935D-500D6D2A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71700"/>
            <a:ext cx="12001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2430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REPRODUCTION PATH</a:t>
            </a:r>
            <a:endParaRPr sz="675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6" name="椭圆 55">
            <a:extLst xmlns:a="http://schemas.openxmlformats.org/drawingml/2006/main">
              <a:ext uri="{FF2B5EF4-FFF2-40B4-BE49-F238E27FC236}">
                <a16:creationId xmlns:a16="http://schemas.microsoft.com/office/drawing/2014/main" id="{898E3509-9A30-4F4C-A0A5-19D4AB3D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52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7" name="直接连接符 56">
            <a:extLst xmlns:a="http://schemas.openxmlformats.org/drawingml/2006/main">
              <a:ext uri="{FF2B5EF4-FFF2-40B4-BE49-F238E27FC236}">
                <a16:creationId xmlns:a16="http://schemas.microsoft.com/office/drawing/2014/main" id="{68FCA4FF-55E7-4F92-A4E7-C6775B56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07657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0566F"/>
            </a:solidFill>
            <a:prstDash val="solid"/>
          </a:ln>
        </p:spPr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B19B1B4B-4967-48D0-9F81-209EEE11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38450"/>
            <a:ext cx="9429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66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32637A15-F34E-42E0-8A45-F36311C1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19400"/>
            <a:ext cx="1866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6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6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make test</a:t>
            </a:r>
            <a:endParaRPr sz="765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0" name="圆角矩形 59">
            <a:extLst xmlns:a="http://schemas.openxmlformats.org/drawingml/2006/main">
              <a:ext uri="{FF2B5EF4-FFF2-40B4-BE49-F238E27FC236}">
                <a16:creationId xmlns:a16="http://schemas.microsoft.com/office/drawing/2014/main" id="{054BE70E-CAF4-4F00-B813-80BEB14B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809875"/>
            <a:ext cx="619125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LOCAL</a:t>
            </a:r>
            <a:endParaRPr sz="600" b="1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42AA6307-36ED-4847-9E13-A4F247A2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2895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AFBDD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AFBDD3"/>
                </a:solidFill>
                <a:latin typeface="Noto Sans CJK SC"/>
                <a:ea typeface="Noto Sans CJK SC"/>
                <a:cs typeface="Noto Sans CJK SC"/>
              </a:rPr>
              <a:t>unit / contract / negative controls / static checks</a:t>
            </a:r>
            <a:endParaRPr sz="655" b="0" i="0">
              <a:solidFill>
                <a:srgbClr val="AFBDD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2" name="椭圆 61">
            <a:extLst xmlns:a="http://schemas.openxmlformats.org/drawingml/2006/main">
              <a:ext uri="{FF2B5EF4-FFF2-40B4-BE49-F238E27FC236}">
                <a16:creationId xmlns:a16="http://schemas.microsoft.com/office/drawing/2014/main" id="{F453072B-C3A1-4E09-BA71-B9A71163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76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63" name="直接连接符 62">
            <a:extLst xmlns:a="http://schemas.openxmlformats.org/drawingml/2006/main">
              <a:ext uri="{FF2B5EF4-FFF2-40B4-BE49-F238E27FC236}">
                <a16:creationId xmlns:a16="http://schemas.microsoft.com/office/drawing/2014/main" id="{F8B078E1-CE6A-4FE0-A7F5-9B2A5804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6004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0566F"/>
            </a:solidFill>
            <a:prstDash val="solid"/>
          </a:ln>
        </p:spPr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2B4133D9-E5DF-43D9-B8B5-86E0B1DC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62325"/>
            <a:ext cx="9429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660" b="1" i="0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C8664F84-A5C4-4CDA-A351-1C34303B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43275"/>
            <a:ext cx="1866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6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6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demo-proof + acceptance</a:t>
            </a:r>
            <a:endParaRPr sz="765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6" name="圆角矩形 65">
            <a:extLst xmlns:a="http://schemas.openxmlformats.org/drawingml/2006/main">
              <a:ext uri="{FF2B5EF4-FFF2-40B4-BE49-F238E27FC236}">
                <a16:creationId xmlns:a16="http://schemas.microsoft.com/office/drawing/2014/main" id="{FFB799F0-5849-4061-8008-C0937D72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333750"/>
            <a:ext cx="619125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00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BUNDLE</a:t>
            </a:r>
            <a:endParaRPr sz="600" b="1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115DE07E-6522-47AF-B4A4-5BEF761A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52825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AFBDD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AFBDD3"/>
                </a:solidFill>
                <a:latin typeface="Noto Sans CJK SC"/>
                <a:ea typeface="Noto Sans CJK SC"/>
                <a:cs typeface="Noto Sans CJK SC"/>
              </a:rPr>
              <a:t>ledger · raw metrics · Matrix · trace · Decision</a:t>
            </a:r>
            <a:endParaRPr sz="655" b="0" i="0">
              <a:solidFill>
                <a:srgbClr val="AFBDD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8" name="椭圆 67">
            <a:extLst xmlns:a="http://schemas.openxmlformats.org/drawingml/2006/main">
              <a:ext uri="{FF2B5EF4-FFF2-40B4-BE49-F238E27FC236}">
                <a16:creationId xmlns:a16="http://schemas.microsoft.com/office/drawing/2014/main" id="{56450D94-CABB-450A-982D-B7684143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00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69" name="直接连接符 68">
            <a:extLst xmlns:a="http://schemas.openxmlformats.org/drawingml/2006/main">
              <a:ext uri="{FF2B5EF4-FFF2-40B4-BE49-F238E27FC236}">
                <a16:creationId xmlns:a16="http://schemas.microsoft.com/office/drawing/2014/main" id="{B507E1EF-2DC6-4EE6-BCEB-9B211760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1243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0566F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F983AF13-0ED1-484F-9735-8AB03239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9429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660" b="1" i="0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5224E586-02A6-4AC5-AC76-035777D9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67150"/>
            <a:ext cx="1866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6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6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target release gate</a:t>
            </a:r>
            <a:endParaRPr sz="765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2" name="圆角矩形 71">
            <a:extLst xmlns:a="http://schemas.openxmlformats.org/drawingml/2006/main">
              <a:ext uri="{FF2B5EF4-FFF2-40B4-BE49-F238E27FC236}">
                <a16:creationId xmlns:a16="http://schemas.microsoft.com/office/drawing/2014/main" id="{8CDB2D5C-EF3E-4E0A-A94C-965348EE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857625"/>
            <a:ext cx="619125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FAIL CLOSED</a:t>
            </a:r>
            <a:endParaRPr sz="6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EF980F15-49A8-4C43-A002-EE342072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7670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AFBDD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AFBDD3"/>
                </a:solidFill>
                <a:latin typeface="Noto Sans CJK SC"/>
                <a:ea typeface="Noto Sans CJK SC"/>
                <a:cs typeface="Noto Sans CJK SC"/>
              </a:rPr>
              <a:t>无 live target → non-zero / SKIP evidence</a:t>
            </a:r>
            <a:endParaRPr sz="655" b="0" i="0">
              <a:solidFill>
                <a:srgbClr val="AFBDD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4" name="椭圆 73">
            <a:extLst xmlns:a="http://schemas.openxmlformats.org/drawingml/2006/main">
              <a:ext uri="{FF2B5EF4-FFF2-40B4-BE49-F238E27FC236}">
                <a16:creationId xmlns:a16="http://schemas.microsoft.com/office/drawing/2014/main" id="{02B4C68C-4F1C-4415-9FFF-EA544708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24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FC7"/>
          </a:solidFill>
          <a:ln xmlns:a="http://schemas.openxmlformats.org/drawingml/2006/main" w="0">
            <a:solidFill>
              <a:srgbClr val="08AFC7"/>
            </a:solidFill>
            <a:prstDash val="solid"/>
          </a:ln>
        </p:spPr>
      </p:sp>
      <p:sp>
        <p:nvSpPr>
          <p:cNvPr id="75" name="直接连接符 74">
            <a:extLst xmlns:a="http://schemas.openxmlformats.org/drawingml/2006/main">
              <a:ext uri="{FF2B5EF4-FFF2-40B4-BE49-F238E27FC236}">
                <a16:creationId xmlns:a16="http://schemas.microsoft.com/office/drawing/2014/main" id="{A0C92C08-1641-471E-87BF-4F9EA36F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6482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0566F"/>
            </a:solidFill>
            <a:prstDash val="solid"/>
          </a:ln>
        </p:spPr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5C7F4B17-125C-430F-8F51-57E12864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10075"/>
            <a:ext cx="9429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660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13E14C89-5358-4832-9053-55F4A9A7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91025"/>
            <a:ext cx="1866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6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6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operator live bundle</a:t>
            </a:r>
            <a:endParaRPr sz="765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8" name="圆角矩形 77">
            <a:extLst xmlns:a="http://schemas.openxmlformats.org/drawingml/2006/main">
              <a:ext uri="{FF2B5EF4-FFF2-40B4-BE49-F238E27FC236}">
                <a16:creationId xmlns:a16="http://schemas.microsoft.com/office/drawing/2014/main" id="{31C18D04-6599-44EC-B9FE-80368C30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381500"/>
            <a:ext cx="619125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08AFC7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00" b="1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EXTERNAL</a:t>
            </a:r>
            <a:endParaRPr sz="600" b="1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7BEA8E3C-4307-4812-BE11-AA41D02B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00575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AFBDD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AFBDD3"/>
                </a:solidFill>
                <a:latin typeface="Noto Sans CJK SC"/>
                <a:ea typeface="Noto Sans CJK SC"/>
                <a:cs typeface="Noto Sans CJK SC"/>
              </a:rPr>
              <a:t>官方 trace + raw metrics + origin attestation</a:t>
            </a:r>
            <a:endParaRPr sz="655" b="0" i="0">
              <a:solidFill>
                <a:srgbClr val="AFBDD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0" name="椭圆 79">
            <a:extLst xmlns:a="http://schemas.openxmlformats.org/drawingml/2006/main">
              <a:ext uri="{FF2B5EF4-FFF2-40B4-BE49-F238E27FC236}">
                <a16:creationId xmlns:a16="http://schemas.microsoft.com/office/drawing/2014/main" id="{E8BA6B38-D142-4359-83F9-CB384D3A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48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B2416A07-0A5A-4929-99E5-F2AB7F9C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933950"/>
            <a:ext cx="9429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660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944568C6-EEA9-4362-8434-FA7944C4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14900"/>
            <a:ext cx="1866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6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6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freeze submission</a:t>
            </a:r>
            <a:endParaRPr sz="765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3" name="圆角矩形 82">
            <a:extLst xmlns:a="http://schemas.openxmlformats.org/drawingml/2006/main">
              <a:ext uri="{FF2B5EF4-FFF2-40B4-BE49-F238E27FC236}">
                <a16:creationId xmlns:a16="http://schemas.microsoft.com/office/drawing/2014/main" id="{2F3E7107-406B-42AD-A40E-A3A2670B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905375"/>
            <a:ext cx="619125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00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SHA-256</a:t>
            </a:r>
            <a:endParaRPr sz="600" b="1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4" name="矩形 83">
            <a:extLst xmlns:a="http://schemas.openxmlformats.org/drawingml/2006/main">
              <a:ext uri="{FF2B5EF4-FFF2-40B4-BE49-F238E27FC236}">
                <a16:creationId xmlns:a16="http://schemas.microsoft.com/office/drawing/2014/main" id="{B1A4C1EC-9383-4193-9B68-69F8DE15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2445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AFBDD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AFBDD3"/>
                </a:solidFill>
                <a:latin typeface="Noto Sans CJK SC"/>
                <a:ea typeface="Noto Sans CJK SC"/>
                <a:cs typeface="Noto Sans CJK SC"/>
              </a:rPr>
              <a:t>PPT/PDF · demo · package · evidence index</a:t>
            </a:r>
            <a:endParaRPr sz="655" b="0" i="0">
              <a:solidFill>
                <a:srgbClr val="AFBDD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1BB1512B-4DDF-48CB-A2C1-8DE3664C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562600"/>
            <a:ext cx="5057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30496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645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45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GitHub Pages 仅托管 static judge replay；API / AgentTeams / PostgreSQL capability 必须由本地或部署 profile 证明</a:t>
            </a:r>
            <a:endParaRPr sz="645" b="1" i="0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203153662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A619481-4FE0-4EF0-8965-ED74942F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Demo · 8 分钟证据路径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28D4613-7B45-4803-B821-F1CB22CC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77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206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6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请直接复现，不必相信 PPT</a:t>
            </a:r>
            <a:endParaRPr sz="206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3C50F6C7-168C-4A29-BB47-577E384E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90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16</a:t>
            </a:r>
            <a:endParaRPr sz="90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7141C6E2-EAA6-4765-84E2-32EE0AB6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57300"/>
            <a:ext cx="9906000" cy="23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6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6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吕新科｜北京邮电大学 · 智能科学与技术</a:t>
            </a:r>
            <a:endParaRPr sz="960" b="1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AF1FCB02-0471-4BD8-9C20-EECAD73B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124075"/>
            <a:ext cx="5381625" cy="3914775"/>
          </a:xfrm>
          <a:prstGeom xmlns:a="http://schemas.openxmlformats.org/drawingml/2006/main" prst="roundRect">
            <a:avLst>
              <a:gd name="adj" fmla="val 3893"/>
            </a:avLst>
          </a:prstGeom>
          <a:solidFill xmlns:a="http://schemas.openxmlformats.org/drawingml/2006/main">
            <a:srgbClr val="0C1B33"/>
          </a:solidFill>
          <a:ln xmlns:a="http://schemas.openxmlformats.org/drawingml/2006/main" w="0">
            <a:solidFill>
              <a:srgbClr val="0C1B33"/>
            </a:solidFill>
            <a:prstDash val="solid"/>
          </a:ln>
        </p:spPr>
        <p:txBody>
          <a:bodyPr xmlns:a="http://schemas.openxmlformats.org/drawingml/2006/main" lIns="171450" tIns="476250" rIns="1714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演示节奏</a:t>
            </a:r>
            <a:endParaRPr sz="142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F636A2A3-24A2-4065-BAF4-310706F0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76475"/>
            <a:ext cx="15049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2430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ONE RUN · ONE CLOSURE</a:t>
            </a:r>
            <a:endParaRPr sz="675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圆角矩形 40">
            <a:extLst xmlns:a="http://schemas.openxmlformats.org/drawingml/2006/main">
              <a:ext uri="{FF2B5EF4-FFF2-40B4-BE49-F238E27FC236}">
                <a16:creationId xmlns:a16="http://schemas.microsoft.com/office/drawing/2014/main" id="{A5163239-2B75-4785-9303-439771B1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57525"/>
            <a:ext cx="50387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542925" tIns="66675" rIns="952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7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0:00–1:00</a:t>
            </a:r>
            <a:endParaRPr sz="7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471FE017-CB4C-4428-974D-B020CD2C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171825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6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4DAD96BE-4B9A-40DF-80CE-F1B2EBF0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86125"/>
            <a:ext cx="4324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B7C5D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B7C5DA"/>
                </a:solidFill>
                <a:latin typeface="Noto Sans CJK SC"/>
                <a:ea typeface="Noto Sans CJK SC"/>
                <a:cs typeface="Noto Sans CJK SC"/>
              </a:rPr>
              <a:t>痛点 + 初赛反馈：为什么需要 RXP。</a:t>
            </a:r>
            <a:endParaRPr sz="655" b="0" i="0">
              <a:solidFill>
                <a:srgbClr val="B7C5D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4" name="圆角矩形 43">
            <a:extLst xmlns:a="http://schemas.openxmlformats.org/drawingml/2006/main">
              <a:ext uri="{FF2B5EF4-FFF2-40B4-BE49-F238E27FC236}">
                <a16:creationId xmlns:a16="http://schemas.microsoft.com/office/drawing/2014/main" id="{DBECC485-8396-46C2-AA98-8316BD85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705225"/>
            <a:ext cx="50387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42925" tIns="66675" rIns="952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7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1:00–3:00</a:t>
            </a:r>
            <a:endParaRPr sz="7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D852360B-6B27-4646-8B07-4ACBB769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19525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6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3F956CE9-7B02-42FD-9905-43E5A403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33825"/>
            <a:ext cx="4324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B7C5D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B7C5DA"/>
                </a:solidFill>
                <a:latin typeface="Noto Sans CJK SC"/>
                <a:ea typeface="Noto Sans CJK SC"/>
                <a:cs typeface="Noto Sans CJK SC"/>
              </a:rPr>
              <a:t>AgentTeams → 人工审批 → bounded single-GPU contract。</a:t>
            </a:r>
            <a:endParaRPr sz="655" b="0" i="0">
              <a:solidFill>
                <a:srgbClr val="B7C5D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DE8AE771-E6B7-4360-9997-01377E5D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352925"/>
            <a:ext cx="50387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08AFC7"/>
            </a:solidFill>
            <a:prstDash val="solid"/>
          </a:ln>
        </p:spPr>
        <p:txBody>
          <a:bodyPr xmlns:a="http://schemas.openxmlformats.org/drawingml/2006/main" lIns="542925" tIns="66675" rIns="952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7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3:00–5:00</a:t>
            </a:r>
            <a:endParaRPr sz="7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8" name="圆角矩形 47">
            <a:extLst xmlns:a="http://schemas.openxmlformats.org/drawingml/2006/main">
              <a:ext uri="{FF2B5EF4-FFF2-40B4-BE49-F238E27FC236}">
                <a16:creationId xmlns:a16="http://schemas.microsoft.com/office/drawing/2014/main" id="{C5A9A1D3-C9DE-437F-B508-F99A49F8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467225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8AFC7"/>
          </a:solidFill>
          <a:ln xmlns:a="http://schemas.openxmlformats.org/drawingml/2006/main" w="0">
            <a:solidFill>
              <a:srgbClr val="08AFC7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6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C355DF36-6ACC-4BF2-BF83-8A8761EF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81525"/>
            <a:ext cx="4324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B7C5D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B7C5DA"/>
                </a:solidFill>
                <a:latin typeface="Noto Sans CJK SC"/>
                <a:ea typeface="Noto Sans CJK SC"/>
                <a:cs typeface="Noto Sans CJK SC"/>
              </a:rPr>
              <a:t>raw metrics → deterministic eval → reviewer → Decision。</a:t>
            </a:r>
            <a:endParaRPr sz="655" b="0" i="0">
              <a:solidFill>
                <a:srgbClr val="B7C5D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0" name="圆角矩形 49">
            <a:extLst xmlns:a="http://schemas.openxmlformats.org/drawingml/2006/main">
              <a:ext uri="{FF2B5EF4-FFF2-40B4-BE49-F238E27FC236}">
                <a16:creationId xmlns:a16="http://schemas.microsoft.com/office/drawing/2014/main" id="{E9C8AB68-4D13-4956-9C80-D9A485D7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000625"/>
            <a:ext cx="50387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42925" tIns="66675" rIns="952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7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5:00–8:00</a:t>
            </a:r>
            <a:endParaRPr sz="7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1" name="圆角矩形 50">
            <a:extLst xmlns:a="http://schemas.openxmlformats.org/drawingml/2006/main">
              <a:ext uri="{FF2B5EF4-FFF2-40B4-BE49-F238E27FC236}">
                <a16:creationId xmlns:a16="http://schemas.microsoft.com/office/drawing/2014/main" id="{5B5A1651-9EC0-4A07-9ACD-CF97A3B4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14925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6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A540E08A-552D-4AE8-B011-E0FC767A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29225"/>
            <a:ext cx="4324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B7C5D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B7C5DA"/>
                </a:solidFill>
                <a:latin typeface="Noto Sans CJK SC"/>
                <a:ea typeface="Noto Sans CJK SC"/>
                <a:cs typeface="Noto Sans CJK SC"/>
              </a:rPr>
              <a:t>PG roles / recovery、benchmark 与 NOT RUN boundary。</a:t>
            </a:r>
            <a:endParaRPr sz="655" b="0" i="0">
              <a:solidFill>
                <a:srgbClr val="B7C5D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4FF27F42-5EB7-432E-AB9F-CA459086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715000"/>
            <a:ext cx="5038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8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endParaRPr sz="680" b="1" i="0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2A246DC2-4EAE-42CC-9B35-F4973C84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24075"/>
            <a:ext cx="5400675" cy="3914775"/>
          </a:xfrm>
          <a:prstGeom xmlns:a="http://schemas.openxmlformats.org/drawingml/2006/main" prst="roundRect">
            <a:avLst>
              <a:gd name="adj" fmla="val 389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  <p:txBody>
          <a:bodyPr xmlns:a="http://schemas.openxmlformats.org/drawingml/2006/main" lIns="171450" tIns="476250" rIns="1714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评委复现：一个入口，三步复现</a:t>
            </a:r>
            <a:endParaRPr sz="142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5" name="圆角矩形 54">
            <a:extLst xmlns:a="http://schemas.openxmlformats.org/drawingml/2006/main">
              <a:ext uri="{FF2B5EF4-FFF2-40B4-BE49-F238E27FC236}">
                <a16:creationId xmlns:a16="http://schemas.microsoft.com/office/drawing/2014/main" id="{AF1F5416-942F-4382-B65C-414C905E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76475"/>
            <a:ext cx="109537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JUDGE REPLAY</a:t>
            </a:r>
            <a:endParaRPr sz="675" b="1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6" name="圆角矩形 55">
            <a:extLst xmlns:a="http://schemas.openxmlformats.org/drawingml/2006/main">
              <a:ext uri="{FF2B5EF4-FFF2-40B4-BE49-F238E27FC236}">
                <a16:creationId xmlns:a16="http://schemas.microsoft.com/office/drawing/2014/main" id="{B24AFD4A-167E-4F29-9BB9-65136A82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05150"/>
            <a:ext cx="505777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txBody>
          <a:bodyPr xmlns:a="http://schemas.openxmlformats.org/drawingml/2006/main" lIns="1314450" tIns="85725" rIns="1333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7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① 打开 static cockpit</a:t>
            </a:r>
            <a:endParaRPr sz="77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E242D207-BD12-4260-9BEB-BDD7EEC3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219450"/>
            <a:ext cx="10668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EB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15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15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SEE</a:t>
            </a:r>
            <a:endParaRPr sz="615" b="1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ABF42A59-42EF-4C38-BFAC-AB4DB609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00425"/>
            <a:ext cx="358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确认 STATIC REPLAY / CONTRACT IMPLEMENTED / EXTERNAL NOT RUN</a:t>
            </a:r>
            <a:endParaRPr sz="67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9" name="圆角矩形 58">
            <a:extLst xmlns:a="http://schemas.openxmlformats.org/drawingml/2006/main">
              <a:ext uri="{FF2B5EF4-FFF2-40B4-BE49-F238E27FC236}">
                <a16:creationId xmlns:a16="http://schemas.microsoft.com/office/drawing/2014/main" id="{24DFC4B7-0E25-4799-8C56-D6ED6D23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86200"/>
            <a:ext cx="505777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 lIns="1314450" tIns="85725" rIns="1333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7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② 运行 local proof</a:t>
            </a:r>
            <a:endParaRPr sz="77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0" name="圆角矩形 59">
            <a:extLst xmlns:a="http://schemas.openxmlformats.org/drawingml/2006/main">
              <a:ext uri="{FF2B5EF4-FFF2-40B4-BE49-F238E27FC236}">
                <a16:creationId xmlns:a16="http://schemas.microsoft.com/office/drawing/2014/main" id="{930660E0-8063-4CCE-B547-01109C46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000500"/>
            <a:ext cx="10668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1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1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VERIFY</a:t>
            </a:r>
            <a:endParaRPr sz="615" b="1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6B8C98D3-9E74-4A43-8929-F3217527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81475"/>
            <a:ext cx="358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make test · PostgreSQL 27 · acceptance bundle verify</a:t>
            </a:r>
            <a:endParaRPr sz="67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2" name="圆角矩形 61">
            <a:extLst xmlns:a="http://schemas.openxmlformats.org/drawingml/2006/main">
              <a:ext uri="{FF2B5EF4-FFF2-40B4-BE49-F238E27FC236}">
                <a16:creationId xmlns:a16="http://schemas.microsoft.com/office/drawing/2014/main" id="{0C960971-095A-411C-ADDF-48508647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67250"/>
            <a:ext cx="505777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59669"/>
            </a:solidFill>
            <a:prstDash val="solid"/>
          </a:ln>
        </p:spPr>
        <p:txBody>
          <a:bodyPr xmlns:a="http://schemas.openxmlformats.org/drawingml/2006/main" lIns="1314450" tIns="85725" rIns="1333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7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③ 检查 release gate</a:t>
            </a:r>
            <a:endParaRPr sz="77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3" name="圆角矩形 62">
            <a:extLst xmlns:a="http://schemas.openxmlformats.org/drawingml/2006/main">
              <a:ext uri="{FF2B5EF4-FFF2-40B4-BE49-F238E27FC236}">
                <a16:creationId xmlns:a16="http://schemas.microsoft.com/office/drawing/2014/main" id="{0BC7E1B3-1BD8-4C26-8E76-634191D8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781550"/>
            <a:ext cx="10668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1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1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TRUST</a:t>
            </a:r>
            <a:endParaRPr sz="615" b="1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CE5E1A1A-FEC1-4099-8DBF-1B9D05AD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962525"/>
            <a:ext cx="358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无可认证 origin 时禁止 live claim；检查 frozen acceptance bundle</a:t>
            </a:r>
            <a:endParaRPr sz="67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E0775CE7-AC17-458A-8A62-432586E7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95925"/>
            <a:ext cx="5057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附包：judge-feedback-implementation.md · acceptance bundle · evidence index · benchmark artifacts</a:t>
            </a:r>
            <a:endParaRPr sz="71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B4DBAA4F-99A8-47C4-947E-40247621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743575"/>
            <a:ext cx="5057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6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EgoAgentOS / RXP：让 AI 不只会做实验，而是对实验的权限、完整性与结论负责。</a:t>
            </a:r>
            <a:endParaRPr sz="66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201946652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2026-08-29T13:49:25.5350000Z</dcterms:created>
  <dcterms:modified xsi:type="dcterms:W3CDTF">2026-08-29T13:49:25.5350000Z</dcterms:modified>
</coreProperties>
</file>