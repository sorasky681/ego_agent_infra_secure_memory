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e0e160abe54650" /><Relationship Type="http://schemas.openxmlformats.org/officeDocument/2006/relationships/extended-properties" Target="/docProps/app.xml" Id="R25931e1887eb4219" /><Relationship Type="http://schemas.openxmlformats.org/officeDocument/2006/relationships/officeDocument" Target="/ppt/presentation.xml" Id="Rf1059cf762b7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6aede243ba46a5"/>
    <p:sldMasterId xmlns:r="http://schemas.openxmlformats.org/officeDocument/2006/relationships" id="2147483650" r:id="R6b22e990b1634486"/>
  </p:sldMasterIdLst>
  <p:notesMasterIdLst>
    <p:notesMasterId xmlns:r="http://schemas.openxmlformats.org/officeDocument/2006/relationships" r:id="R97c53b6dff614da2"/>
  </p:notesMasterIdLst>
  <p:sldIdLst>
    <p:sldId xmlns:r="http://schemas.openxmlformats.org/officeDocument/2006/relationships" id="256" r:id="Ra47e4f7b9d894bf6"/>
    <p:sldId xmlns:r="http://schemas.openxmlformats.org/officeDocument/2006/relationships" id="257" r:id="R681f4e95bb264850"/>
    <p:sldId xmlns:r="http://schemas.openxmlformats.org/officeDocument/2006/relationships" id="258" r:id="Raf673819f170497e"/>
    <p:sldId xmlns:r="http://schemas.openxmlformats.org/officeDocument/2006/relationships" id="259" r:id="Re8a4dc8eda6b4f9d"/>
    <p:sldId xmlns:r="http://schemas.openxmlformats.org/officeDocument/2006/relationships" id="260" r:id="R0828ca53f7b14558"/>
    <p:sldId xmlns:r="http://schemas.openxmlformats.org/officeDocument/2006/relationships" id="261" r:id="Rdf5f41b068c9479c"/>
    <p:sldId xmlns:r="http://schemas.openxmlformats.org/officeDocument/2006/relationships" id="262" r:id="R3746646a0d9046f2"/>
    <p:sldId xmlns:r="http://schemas.openxmlformats.org/officeDocument/2006/relationships" id="263" r:id="R68098a075a7f4315"/>
    <p:sldId xmlns:r="http://schemas.openxmlformats.org/officeDocument/2006/relationships" id="264" r:id="R29d202bdfb1148d9"/>
    <p:sldId xmlns:r="http://schemas.openxmlformats.org/officeDocument/2006/relationships" id="265" r:id="R269baca590b6403a"/>
    <p:sldId xmlns:r="http://schemas.openxmlformats.org/officeDocument/2006/relationships" id="266" r:id="R53968376b7634e0f"/>
    <p:sldId xmlns:r="http://schemas.openxmlformats.org/officeDocument/2006/relationships" id="267" r:id="R390ac03733b44b42"/>
    <p:sldId xmlns:r="http://schemas.openxmlformats.org/officeDocument/2006/relationships" id="268" r:id="R0a95b4f04fb648ef"/>
    <p:sldId xmlns:r="http://schemas.openxmlformats.org/officeDocument/2006/relationships" id="269" r:id="R11bf6ce7ff5b4f7b"/>
    <p:sldId xmlns:r="http://schemas.openxmlformats.org/officeDocument/2006/relationships" id="270" r:id="Rbe0c5c4472124c4e"/>
    <p:sldId xmlns:r="http://schemas.openxmlformats.org/officeDocument/2006/relationships" id="271" r:id="R6df866adebe44b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795e8847204ac7" /><Relationship Type="http://schemas.openxmlformats.org/officeDocument/2006/relationships/slideMaster" Target="/ppt/slideMasters/slideMaster1.xml" Id="Re66aede243ba46a5" /><Relationship Type="http://schemas.openxmlformats.org/officeDocument/2006/relationships/slideMaster" Target="/ppt/slideMasters/slideMaster2.xml" Id="R6b22e990b1634486" /><Relationship Type="http://schemas.openxmlformats.org/officeDocument/2006/relationships/notesMaster" Target="/ppt/notesMasters/notesMaster1.xml" Id="R97c53b6dff614da2" /><Relationship Type="http://schemas.openxmlformats.org/officeDocument/2006/relationships/presProps" Target="/ppt/presProps.xml" Id="R340bca2c4a97443d" /><Relationship Type="http://schemas.openxmlformats.org/officeDocument/2006/relationships/viewProps" Target="/ppt/viewProps.xml" Id="R25f25dc087a54072" /><Relationship Type="http://schemas.openxmlformats.org/officeDocument/2006/relationships/tableStyles" Target="/ppt/tableStyles.xml" Id="Rb98ff6cf9c79444c" /><Relationship Type="http://schemas.openxmlformats.org/officeDocument/2006/relationships/slide" Target="/ppt/slides/slide1.xml" Id="Ra47e4f7b9d894bf6" /><Relationship Type="http://schemas.openxmlformats.org/officeDocument/2006/relationships/slide" Target="/ppt/slides/slide2.xml" Id="R681f4e95bb264850" /><Relationship Type="http://schemas.openxmlformats.org/officeDocument/2006/relationships/slide" Target="/ppt/slides/slide3.xml" Id="Raf673819f170497e" /><Relationship Type="http://schemas.openxmlformats.org/officeDocument/2006/relationships/slide" Target="/ppt/slides/slide4.xml" Id="Re8a4dc8eda6b4f9d" /><Relationship Type="http://schemas.openxmlformats.org/officeDocument/2006/relationships/slide" Target="/ppt/slides/slide5.xml" Id="R0828ca53f7b14558" /><Relationship Type="http://schemas.openxmlformats.org/officeDocument/2006/relationships/slide" Target="/ppt/slides/slide6.xml" Id="Rdf5f41b068c9479c" /><Relationship Type="http://schemas.openxmlformats.org/officeDocument/2006/relationships/slide" Target="/ppt/slides/slide7.xml" Id="R3746646a0d9046f2" /><Relationship Type="http://schemas.openxmlformats.org/officeDocument/2006/relationships/slide" Target="/ppt/slides/slide8.xml" Id="R68098a075a7f4315" /><Relationship Type="http://schemas.openxmlformats.org/officeDocument/2006/relationships/slide" Target="/ppt/slides/slide9.xml" Id="R29d202bdfb1148d9" /><Relationship Type="http://schemas.openxmlformats.org/officeDocument/2006/relationships/slide" Target="/ppt/slides/slide10.xml" Id="R269baca590b6403a" /><Relationship Type="http://schemas.openxmlformats.org/officeDocument/2006/relationships/slide" Target="/ppt/slides/slide11.xml" Id="R53968376b7634e0f" /><Relationship Type="http://schemas.openxmlformats.org/officeDocument/2006/relationships/slide" Target="/ppt/slides/slide12.xml" Id="R390ac03733b44b42" /><Relationship Type="http://schemas.openxmlformats.org/officeDocument/2006/relationships/slide" Target="/ppt/slides/slide13.xml" Id="R0a95b4f04fb648ef" /><Relationship Type="http://schemas.openxmlformats.org/officeDocument/2006/relationships/slide" Target="/ppt/slides/slide14.xml" Id="R11bf6ce7ff5b4f7b" /><Relationship Type="http://schemas.openxmlformats.org/officeDocument/2006/relationships/slide" Target="/ppt/slides/slide15.xml" Id="Rbe0c5c4472124c4e" /><Relationship Type="http://schemas.openxmlformats.org/officeDocument/2006/relationships/slide" Target="/ppt/slides/slide16.xml" Id="R6df866adebe44b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843a21a63d7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26ec68de05499a" /><Relationship Type="http://schemas.openxmlformats.org/officeDocument/2006/relationships/notesMaster" Target="/ppt/notesMasters/notesMaster1.xml" Id="R04019e3d5ad8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b3aa38369448d" /><Relationship Type="http://schemas.openxmlformats.org/officeDocument/2006/relationships/notesMaster" Target="/ppt/notesMasters/notesMaster1.xml" Id="Rf119c6749d2d49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447d72e45c4bad" /><Relationship Type="http://schemas.openxmlformats.org/officeDocument/2006/relationships/notesMaster" Target="/ppt/notesMasters/notesMaster1.xml" Id="R62386419693746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61c045ef664f3d" /><Relationship Type="http://schemas.openxmlformats.org/officeDocument/2006/relationships/notesMaster" Target="/ppt/notesMasters/notesMaster1.xml" Id="R6d5d9f4c0b37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070f136ce4aab" /><Relationship Type="http://schemas.openxmlformats.org/officeDocument/2006/relationships/notesMaster" Target="/ppt/notesMasters/notesMaster1.xml" Id="Raec6efc30e1241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9a8c314f29427d" /><Relationship Type="http://schemas.openxmlformats.org/officeDocument/2006/relationships/notesMaster" Target="/ppt/notesMasters/notesMaster1.xml" Id="Rbb3f05f6fc3847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6866db4a9d4d00" /><Relationship Type="http://schemas.openxmlformats.org/officeDocument/2006/relationships/notesMaster" Target="/ppt/notesMasters/notesMaster1.xml" Id="Rd4b70c02f32248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578dc5b2294c09" /><Relationship Type="http://schemas.openxmlformats.org/officeDocument/2006/relationships/notesMaster" Target="/ppt/notesMasters/notesMaster1.xml" Id="R31fca4a6c3c6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5913a8e884613" /><Relationship Type="http://schemas.openxmlformats.org/officeDocument/2006/relationships/notesMaster" Target="/ppt/notesMasters/notesMaster1.xml" Id="R6da36b6da8f948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29921450034c98" /><Relationship Type="http://schemas.openxmlformats.org/officeDocument/2006/relationships/notesMaster" Target="/ppt/notesMasters/notesMaster1.xml" Id="Ra6e1ee37c0a743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ffcdb25a0a49ac" /><Relationship Type="http://schemas.openxmlformats.org/officeDocument/2006/relationships/notesMaster" Target="/ppt/notesMasters/notesMaster1.xml" Id="R8eb773a82ef646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8895d8e75140ef" /><Relationship Type="http://schemas.openxmlformats.org/officeDocument/2006/relationships/notesMaster" Target="/ppt/notesMasters/notesMaster1.xml" Id="R0b8a970d3bfb42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768e84713c4f9c" /><Relationship Type="http://schemas.openxmlformats.org/officeDocument/2006/relationships/notesMaster" Target="/ppt/notesMasters/notesMaster1.xml" Id="Rcf13fee59ae042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7bd27f34f1449c" /><Relationship Type="http://schemas.openxmlformats.org/officeDocument/2006/relationships/notesMaster" Target="/ppt/notesMasters/notesMaster1.xml" Id="R4cdbb536a0b049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6f13ec32e24800" /><Relationship Type="http://schemas.openxmlformats.org/officeDocument/2006/relationships/notesMaster" Target="/ppt/notesMasters/notesMaster1.xml" Id="R4f31d8a0f2a942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d8a5f2889344a1" /><Relationship Type="http://schemas.openxmlformats.org/officeDocument/2006/relationships/notesMaster" Target="/ppt/notesMasters/notesMaster1.xml" Id="Rcd9323d8c864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https://www.goaihz.com/#tracks</a:t>
            </a:r>
          </a:p>
          <a:p xmlns:a="http://schemas.openxmlformats.org/drawingml/2006/main">
            <a:r>
              <a:t>- Real local Web Cockpit capture on 2026-08-09; screenshot embedded on this slide</a:t>
            </a:r>
          </a:p>
          <a:p xmlns:a="http://schemas.openxmlformats.org/drawingml/2006/main">
            <a:r>
              <a:t>- Repository: apps/web/ and apps/api/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https://www.goaihz.com/#tracks</a:t>
            </a:r>
          </a:p>
          <a:p xmlns:a="http://schemas.openxmlformats.org/drawingml/2006/main">
            <a:r>
              <a:t>- Repository: docs/competition-mapping.md</a:t>
            </a:r>
          </a:p>
          <a:p xmlns:a="http://schemas.openxmlformats.org/drawingml/2006/main">
            <a:r>
              <a:t>- Repository test runs on 2026-08-09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direction attachment: EgoAgentOS ResearchOps</a:t>
            </a:r>
          </a:p>
          <a:p xmlns:a="http://schemas.openxmlformats.org/drawingml/2006/main">
            <a:r>
              <a:t>- Repository: docs/architecture.md</a:t>
            </a:r>
          </a:p>
          <a:p xmlns:a="http://schemas.openxmlformats.org/drawingml/2006/main">
            <a:r>
              <a:t>- User-provided personal profile: ego/VLA research workflow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docs/architecture.md</a:t>
            </a:r>
          </a:p>
          <a:p xmlns:a="http://schemas.openxmlformats.org/drawingml/2006/main">
            <a:r>
              <a:t>- Repository: docs/state-machine.md</a:t>
            </a:r>
          </a:p>
          <a:p xmlns:a="http://schemas.openxmlformats.org/drawingml/2006/main">
            <a:r>
              <a:t>- Repository: docs/observability.md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docs/architecture.md</a:t>
            </a:r>
          </a:p>
          <a:p xmlns:a="http://schemas.openxmlformats.org/drawingml/2006/main">
            <a:r>
              <a:t>- Repository: integrations/agentteams/README.md</a:t>
            </a:r>
          </a:p>
          <a:p xmlns:a="http://schemas.openxmlformats.org/drawingml/2006/main">
            <a:r>
              <a:t>- https://hiclaw.io/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agents/README.md</a:t>
            </a:r>
          </a:p>
          <a:p xmlns:a="http://schemas.openxmlformats.org/drawingml/2006/main">
            <a:r>
              <a:t>- Repository: agents/*.yaml</a:t>
            </a:r>
          </a:p>
          <a:p xmlns:a="http://schemas.openxmlformats.org/drawingml/2006/main">
            <a:r>
              <a:t>- Repository: integrations/agentteams/message-envelope.schema.json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docs/security.md</a:t>
            </a:r>
          </a:p>
          <a:p xmlns:a="http://schemas.openxmlformats.org/drawingml/2006/main">
            <a:r>
              <a:t>- Repository: docs/state-machine.md</a:t>
            </a:r>
          </a:p>
          <a:p xmlns:a="http://schemas.openxmlformats.org/drawingml/2006/main">
            <a:r>
              <a:t>- Repository: tests/api/</a:t>
            </a:r>
          </a:p>
          <a:p xmlns:a="http://schemas.openxmlformats.org/drawingml/2006/main">
            <a:r>
              <a:t>- R2 approval record includes rollback_point as a baseline plan/config pointer; no rollback execution is claimed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skills/README.md</a:t>
            </a:r>
          </a:p>
          <a:p xmlns:a="http://schemas.openxmlformats.org/drawingml/2006/main">
            <a:r>
              <a:t>- Repository: mcp_servers/README.md</a:t>
            </a:r>
          </a:p>
          <a:p xmlns:a="http://schemas.openxmlformats.org/drawingml/2006/main">
            <a:r>
              <a:t>- Repository: mcp_servers/pyproject.toml</a:t>
            </a:r>
          </a:p>
          <a:p xmlns:a="http://schemas.openxmlformats.org/drawingml/2006/main">
            <a:r>
              <a:t>- https://nacos.io/en/docs/latest/manual/user/ai/skill-registry/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examples/egolite/README.md</a:t>
            </a:r>
          </a:p>
          <a:p xmlns:a="http://schemas.openxmlformats.org/drawingml/2006/main">
            <a:r>
              <a:t>- Repository: examples/egolite/goal.yaml</a:t>
            </a:r>
          </a:p>
          <a:p xmlns:a="http://schemas.openxmlformats.org/drawingml/2006/main">
            <a:r>
              <a:t>- Repository: docs/demo-runbook.md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Real local Web Cockpit capture on 2026-08-09: .tmp/deck/web-cockpit-approval-gate.png</a:t>
            </a:r>
          </a:p>
          <a:p xmlns:a="http://schemas.openxmlformats.org/drawingml/2006/main">
            <a:r>
              <a:t>- Repository: apps/web/</a:t>
            </a:r>
          </a:p>
          <a:p xmlns:a="http://schemas.openxmlformats.org/drawingml/2006/main">
            <a:r>
              <a:t>- Repository: apps/api/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Real local Web Cockpit capture on 2026-08-09: .tmp/deck/web-cockpit-completed.png</a:t>
            </a:r>
          </a:p>
          <a:p xmlns:a="http://schemas.openxmlformats.org/drawingml/2006/main">
            <a:r>
              <a:t>- Repository: docs/demo-runbook.md</a:t>
            </a:r>
          </a:p>
          <a:p xmlns:a="http://schemas.openxmlformats.org/drawingml/2006/main">
            <a:r>
              <a:t>- Repository: apps/api/service.py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Backend/API domain: 23 tests passed; Ruff and MyPy verified on 2026-08-09</a:t>
            </a:r>
          </a:p>
          <a:p xmlns:a="http://schemas.openxmlformats.org/drawingml/2006/main">
            <a:r>
              <a:t>- Frontend: 4 tests passed; Vite production build passed; browser console had no errors</a:t>
            </a:r>
          </a:p>
          <a:p xmlns:a="http://schemas.openxmlformats.org/drawingml/2006/main">
            <a:r>
              <a:t>- MCP standalone: 21 tests passed, including automated repo-server loopback Streamable HTTP initialize/tools/list; API-to-GPU MCP contract bridge: 2 tests passed; make test-mcp total: 23</a:t>
            </a:r>
          </a:p>
          <a:p xmlns:a="http://schemas.openxmlformats.org/drawingml/2006/main">
            <a:r>
              <a:t>- Approval bridge: with shared secret, API mints egoap1 HMAC token; GPU MCP accepts once and rejects replay. Without shared secret, UI egoap_ fallback does not interoperate. Default Web has no HTTP MCP client.</a:t>
            </a:r>
          </a:p>
          <a:p xmlns:a="http://schemas.openxmlformats.org/drawingml/2006/main">
            <a:r>
              <a:t>- Isolated judge replay: 7/7 gate PASS, KEEP, approval consumed, full event chain valid; bypass/replay blocked; missing-trace held at VERIFY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examples/egolite/fixtures/resource-before.json</a:t>
            </a:r>
          </a:p>
          <a:p xmlns:a="http://schemas.openxmlformats.org/drawingml/2006/main">
            <a:r>
              <a:t>- Repository: examples/egolite/fixtures/resource-after.json</a:t>
            </a:r>
          </a:p>
          <a:p xmlns:a="http://schemas.openxmlformats.org/drawingml/2006/main">
            <a:r>
              <a:t>- Repository: skills/dataset-manifest/</a:t>
            </a:r>
          </a:p>
          <a:p xmlns:a="http://schemas.openxmlformats.org/drawingml/2006/main">
            <a:r>
              <a:t>- All resource/model values on this slide are synthetic fixtures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LICENSE</a:t>
            </a:r>
          </a:p>
          <a:p xmlns:a="http://schemas.openxmlformats.org/drawingml/2006/main">
            <a:r>
              <a:t>- Repository: SECURITY.md</a:t>
            </a:r>
          </a:p>
          <a:p xmlns:a="http://schemas.openxmlformats.org/drawingml/2006/main">
            <a:r>
              <a:t>- Repository: THIRD_PARTY.md</a:t>
            </a:r>
          </a:p>
          <a:p xmlns:a="http://schemas.openxmlformats.org/drawingml/2006/main">
            <a:r>
              <a:t>- Repository: DATA_CARD.md</a:t>
            </a:r>
          </a:p>
          <a:p xmlns:a="http://schemas.openxmlformats.org/drawingml/2006/main">
            <a:r>
              <a:t>- Repository: MODEL_CARD.md</a:t>
            </a:r>
          </a:p>
          <a:p xmlns:a="http://schemas.openxmlformats.org/drawingml/2006/main">
            <a:r>
              <a:t>- Repository: integrations/*/README.md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docs/claims-evidence.md</a:t>
            </a:r>
          </a:p>
          <a:p xmlns:a="http://schemas.openxmlformats.org/drawingml/2006/main">
            <a:r>
              <a:t>- Repository: submission/submission-checklist.md</a:t>
            </a:r>
          </a:p>
          <a:p xmlns:a="http://schemas.openxmlformats.org/drawingml/2006/main">
            <a:r>
              <a:t>- https://www.goaihz.com/#tracks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personal profile attachment</a:t>
            </a:r>
          </a:p>
          <a:p xmlns:a="http://schemas.openxmlformats.org/drawingml/2006/main">
            <a:r>
              <a:t>- Repository: docs/demo-runbook.md</a:t>
            </a:r>
          </a:p>
          <a:p xmlns:a="http://schemas.openxmlformats.org/drawingml/2006/main">
            <a:r>
              <a:t>- Repository: docs/claims-evidence.md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ed073b1d045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a0260621a3439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da0011a1a04e3b" /><Relationship Type="http://schemas.openxmlformats.org/officeDocument/2006/relationships/slideLayout" Target="/ppt/slideLayouts/slideLayout1.xml" Id="R3d405f76f32f461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1da20a8717d475e" /><Relationship Type="http://schemas.openxmlformats.org/officeDocument/2006/relationships/slideLayout" Target="/ppt/slideLayouts/slideLayout2.xml" Id="R21e15b6ce61d4a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05f76f32f461b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1e15b6ce61d4a6c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69a2ea41d4108" /><Relationship Type="http://schemas.openxmlformats.org/officeDocument/2006/relationships/image" Target="/ppt/media/image.png" Id="R0095eccb643e4a33" /><Relationship Type="http://schemas.openxmlformats.org/officeDocument/2006/relationships/notesSlide" Target="/ppt/notesSlides/notesSlide1.xml" Id="R5a4f06feaf8a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1dbc604164ddd" /><Relationship Type="http://schemas.openxmlformats.org/officeDocument/2006/relationships/notesSlide" Target="/ppt/notesSlides/notesSlide2.xml" Id="R1cd3c96fe286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9694710a4d68" /><Relationship Type="http://schemas.openxmlformats.org/officeDocument/2006/relationships/notesSlide" Target="/ppt/notesSlides/notesSlide3.xml" Id="Rcbf7b29e30b7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4bf7765e04a1e" /><Relationship Type="http://schemas.openxmlformats.org/officeDocument/2006/relationships/notesSlide" Target="/ppt/notesSlides/notesSlide4.xml" Id="Rb838e6fd90534d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6a31fe6d846c7" /><Relationship Type="http://schemas.openxmlformats.org/officeDocument/2006/relationships/notesSlide" Target="/ppt/notesSlides/notesSlide5.xml" Id="R33ed7df590f4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a8f2229f34b9f" /><Relationship Type="http://schemas.openxmlformats.org/officeDocument/2006/relationships/notesSlide" Target="/ppt/notesSlides/notesSlide6.xml" Id="Rec9601e8453c47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b5488ea864c5b" /><Relationship Type="http://schemas.openxmlformats.org/officeDocument/2006/relationships/notesSlide" Target="/ppt/notesSlides/notesSlide7.xml" Id="Rb3e09b39de3d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bf2ace7f64ac9" /><Relationship Type="http://schemas.openxmlformats.org/officeDocument/2006/relationships/notesSlide" Target="/ppt/notesSlides/notesSlide8.xml" Id="R9607e1b5db0345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6a5ed894e46e9" /><Relationship Type="http://schemas.openxmlformats.org/officeDocument/2006/relationships/notesSlide" Target="/ppt/notesSlides/notesSlide9.xml" Id="R16204837fe3d4d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eac0379fa44e1" /><Relationship Type="http://schemas.openxmlformats.org/officeDocument/2006/relationships/image" Target="/ppt/media/image.png" Id="R6a4c549370bc4df0" /><Relationship Type="http://schemas.openxmlformats.org/officeDocument/2006/relationships/image" Target="/ppt/media/image2.png" Id="R34dbe8a1b1b64c46" /><Relationship Type="http://schemas.openxmlformats.org/officeDocument/2006/relationships/notesSlide" Target="/ppt/notesSlides/notesSlide10.xml" Id="R78a7e05c525d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5bd363bb46fc" /><Relationship Type="http://schemas.openxmlformats.org/officeDocument/2006/relationships/image" Target="/ppt/media/image.png" Id="R42499528d2a74b58" /><Relationship Type="http://schemas.openxmlformats.org/officeDocument/2006/relationships/image" Target="/ppt/media/image3.png" Id="Ra5dca045c344448c" /><Relationship Type="http://schemas.openxmlformats.org/officeDocument/2006/relationships/notesSlide" Target="/ppt/notesSlides/notesSlide11.xml" Id="R5a3b788b7bc143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95b9d9fc24a38" /><Relationship Type="http://schemas.openxmlformats.org/officeDocument/2006/relationships/notesSlide" Target="/ppt/notesSlides/notesSlide12.xml" Id="R2684b55df98b4d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4f1577a8f4fdc" /><Relationship Type="http://schemas.openxmlformats.org/officeDocument/2006/relationships/notesSlide" Target="/ppt/notesSlides/notesSlide13.xml" Id="R6c9b18c9b94e4f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260121f2c4b58" /><Relationship Type="http://schemas.openxmlformats.org/officeDocument/2006/relationships/notesSlide" Target="/ppt/notesSlides/notesSlide14.xml" Id="Rc13b0e38ee5a4b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8c7f2c0704cba" /><Relationship Type="http://schemas.openxmlformats.org/officeDocument/2006/relationships/notesSlide" Target="/ppt/notesSlides/notesSlide15.xml" Id="Rb715242ac89241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5644083f34af5" /><Relationship Type="http://schemas.openxmlformats.org/officeDocument/2006/relationships/notesSlide" Target="/ppt/notesSlides/notesSlide16.xml" Id="R3fd1d16fde2947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GOAI 世界人工智能开源大赛｜Agent Infra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EgoAgentOS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ResearchOps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吕新科 · 北京邮电大学 · 智能科学与技术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证据门禁的多 Agent 具身科研基础设施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5eccb643e4a33"/>
          <a:srcRect xmlns:a="http://schemas.openxmlformats.org/drawingml/2006/main" l="2642" t="0" r="2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31E70D-6393-44A9-B2C3-8E7B570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P0 · 一页纸速览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3E73B4-3626-4539-A7FC-E37178B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EgoAgentOS 作品简介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DED1FC2-193A-4B9F-8D1F-C4D5451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7807FFF-49F2-4DD3-A5A7-CE0D598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8E8570-AE40-49A9-A07A-B59A97B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项目名称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996F51-0EF7-4CE9-A556-5A2DAF6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EgoAgentOS ResearchOps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9DB30-8ADC-4D0E-A7CF-C1757C1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研究目标 → 可审计 Decision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970162B-D874-45D5-9B3A-07B38534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8E4F5D4-2F6D-4196-8A95-950CA30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15DA15-8BDC-4688-93CF-E6BA5C3C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问题与场景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4786F9-162C-499D-98A8-0F15B1B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具身 AI 实验仍散落在 SSH、脚本与聊天里。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FBBB8A-FF21-4A47-B183-B1B06368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目标、数据、运行、指标、结论彼此割裂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6B0BA77-3D5E-4532-99C2-C7F172A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A9AAD5A-6E87-4199-86A2-F3225A4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712367-DCE6-4F93-92D2-61A11FA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核心解决方案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66B762D-D631-47C0-9D98-7A09D3E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 Manager + 6 Worker，确定性控制面执法。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89583E-6559-40A8-8C61-1BB89CEA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AgentTeams basis + EvidenceGate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C649240-B844-4E08-9F70-DB61C14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41B97B1-8AEC-46B8-A393-A91D416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3F798F6-D0FF-4D5A-B6C9-26B816F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创新与差异化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4D5E43-9A05-4458-A7AF-66043E1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Planner ≠ Runner ≠ Evaluator ≠ Reviewer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4593839-9A04-44C9-ADA7-4F5029BB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Deterministic Core + LLM Residual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AD16381-4ABD-4939-B181-1EA7C9A7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687F70B-9A13-4AE4-8A32-FE7E97D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B2435CC-54A0-4272-B58D-89D5773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开放 / 复用价值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296145-3FC0-4616-992F-AAEF1FC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开放 7 Identity、6 Skill、4 MCP 与 replay fixtures。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46E47A-0E5D-45C0-BA07-BD50676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VLA｜World Model｜具身研究流水线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B1D5EE4-D4EF-4F2B-999B-FF27506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8543959-D351-4329-9A30-694AA81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839EBA4-1953-47C1-A2F4-F68454D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当前进展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89B09D4-FB01-41D1-A71E-2F443612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本地 API、Web Cockpit、SQLite 与 judge replay 已运行。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DB55E65-1635-419C-A2B2-559B93C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23 API · 4 Web · 21 MCP + 2 bridge PASS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353BC12-5226-4FB1-9FC9-B4B09DFD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65743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1DD2A3E-4FCF-4261-B176-A0D22133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场景 · ResearchOps 缺口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2802293-4C2C-4CA7-A2A4-0EA245F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实验跑完，不等于结论可信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B938E34-DBBA-48B4-8636-18B34AC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EgoAgentOS 把具身 AI 研发从“研究员 + SSH + 脚本”收束为可协作、可验证、可重放的生产线。</a:t>
            </a:r>
            <a:endParaRPr sz="112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280A427-F5A0-4CAB-9F5C-BCEF5E1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4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窄场景：EgoLite streaming perception｜控制面真实｜模型与硬件数据均为 SYNTHETIC</a:t>
            </a:r>
            <a:endParaRPr sz="94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BA3E244-9D13-4EBA-B1D0-D3719A74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oundRect">
            <a:avLst>
              <a:gd name="adj" fmla="val 487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9BCD9B4-6E7A-4711-AF80-E68E32F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25050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现状</a:t>
            </a:r>
            <a:endParaRPr sz="75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F3277F4-6DF1-4CA8-836F-9F18368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2781300"/>
            <a:ext cx="52933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Agent 会提案，却常常也替自己判定成功</a:t>
            </a:r>
            <a:endParaRPr sz="135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E60D387-8003-4A07-95FD-4F5B9E40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3143250"/>
            <a:ext cx="5293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2902EB8-BDAF-4745-B932-D4514085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330517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研究目标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84A400A-98F9-4BBC-BF9C-4BCCEA3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3676650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代码 / 配置</a:t>
            </a:r>
            <a:endParaRPr sz="79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86EE2A1-773C-4394-B48F-708F601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04812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Dataset</a:t>
            </a:r>
            <a:endParaRPr sz="79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8817DD5A-D32D-4F52-AC19-426E0445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419600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GPU / 日志</a:t>
            </a:r>
            <a:endParaRPr sz="79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4E0B764-4346-49DF-B13C-A322C43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79107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指标 / 结论</a:t>
            </a:r>
            <a:endParaRPr sz="790" b="1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930A455-7F17-48BF-A685-02C0A843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910" y="34480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能力生成 / 优化层</a:t>
            </a:r>
            <a:endParaRPr sz="10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模型 · 程序 · 轨迹</a:t>
            </a:r>
            <a:endParaRPr sz="10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8307809-2BA2-419A-984B-EE7668BA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710" y="3286125"/>
            <a:ext cx="17907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33350" tIns="114300" rIns="114300" bIns="76200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研发断点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endParaRPr sz="915"/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Context 漂移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高成本动作无审批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指标由 Agent 解释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失败经验难复用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99" name="直接箭头连接符 56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69110" y="3433763"/>
            <a:ext cx="304800" cy="4143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100" name="直接箭头连接符 57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69110" y="3805238"/>
            <a:ext cx="304800" cy="428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101" name="直接箭头连接符 5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3286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102" name="直接箭头连接符 59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7000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103" name="直接箭头连接符 60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10715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104" name="直接箭头连接符 61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93160" y="3848100"/>
            <a:ext cx="209550" cy="195263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C2626"/>
            </a:solidFill>
            <a:prstDash val="solid"/>
            <a:headEnd type="arrow" w="sm" len="sm"/>
          </a:ln>
        </p:spPr>
      </p:cxn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A486546-54B4-48B9-B6E3-4958962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5132705"/>
            <a:ext cx="52171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真实痛点来自 ego→HaMeR→3D pose→VLA 链路：重现实验、定位瓶颈和审查证据，比再写一段 prompt 更难。</a:t>
            </a:r>
            <a:endParaRPr sz="840" b="1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04684E51-E278-4CC1-B37A-4317002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oundRect">
            <a:avLst>
              <a:gd name="adj" fmla="val 4914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322541A-B046-4B9E-A9CD-9B018EC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380" y="2505075"/>
            <a:ext cx="1104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EGOAGENTOS</a:t>
            </a:r>
            <a:endParaRPr sz="7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698E98E-3213-4483-9145-2576DE0D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380" y="2781300"/>
            <a:ext cx="52000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研究控制面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78E45F5C-2040-4A07-89BF-015E1B2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32099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682D375-F0E3-4710-A2A6-D4B1370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2004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Freeze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95D66C-E42A-48C1-B8C8-788B3C1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37185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ResearchGoal + ContextBundle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051D232-2E5A-4780-8258-F488D201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36861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84425B5-DAFA-4043-8F55-F3958C1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6766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Authorize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75CC727-1999-4362-B469-F074E49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84810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R0–R3 policy + scoped approval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6A2493B4-AA73-47C7-8E76-5BBC1F2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41624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844135C-D9B4-4F9D-A47D-7464C2C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152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583365C-5A7D-4B65-84E2-243D849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32435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raw metrics + independent Reviewer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80F118E-62DB-4403-8C84-BC48079A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46386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779EE73-3018-41C0-8E2F-F51E687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6291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Learn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38DCED9-C4A1-45E8-93AC-C8A5E8A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80060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Trace → Memory → Skill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A1F6D86-D9FF-4D54-9E2F-6AF3B45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5105400"/>
            <a:ext cx="5180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8"/>
          </a:solidFill>
          <a:ln xmlns:a="http://schemas.openxmlformats.org/drawingml/2006/main" w="9525">
            <a:solidFill>
              <a:srgbClr val="36506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原则：AgentTeams 负责协作；API / DB 才是事实来源。</a:t>
            </a:r>
            <a:endParaRPr sz="81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844524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07074B-4C77-4552-8404-FD7963F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闭环 · 研究生产线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1FB40-2DD2-4945-B1D1-D2618B7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每一步都留下结构化状态、证据与责任边界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A5EABF-9D17-4BD9-AA44-D84A08A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3F998AD-EFC3-435F-9457-6CE708D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Research Goal → Experiment DAG → Execution → Evaluation → Independent Verification → Decision → Memory / Skill。</a:t>
            </a:r>
            <a:endParaRPr sz="10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2E30D1FD-0E9B-4067-A2A5-6DDCBC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4345"/>
            <a:ext cx="11144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192A94E-966B-49B9-BB6B-A36D1D8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INTAKE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B8E1E7A-6F51-4A30-A20E-B6356EE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 Goal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93E9B313-7A30-4397-9882-BEAEA7A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ContextBundle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AE3CECD-F420-421A-BD7C-F9FDCD0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ExperimentPlan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0B9B6A2-5F39-47FA-8446-38BF9B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Approval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96DC7E6-BB41-447F-9117-D27702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RunManifest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2F75B6C-7081-479D-B6EE-8D492D7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AGENTTEAMS · 1 TASK = 1 COLLABORATION ROOM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2925637-6D42-4D83-8F44-09B9192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3638550" cy="2505075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0">
            <a:solidFill>
              <a:srgbClr val="1B1F3B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F60FE3-9A4D-4BD4-AEB1-97387F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47900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A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Research PI</a:t>
            </a:r>
            <a:endParaRPr sz="82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366D5D6-7962-4107-9B98-114DA5B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rPr>
              <a:t>Control Flow · freeze / route / merge</a:t>
            </a:r>
            <a:endParaRPr sz="750" b="0" i="0">
              <a:solidFill>
                <a:srgbClr val="BFC9E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FAC2CE25-F531-46F6-B8F1-F9E87F7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45E874DB-4CAA-4DD6-B0E2-5AEEED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CF942107-3E99-4C00-B1EA-B9B570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B8D0D6A-809E-45C3-94E5-DB2E6E4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DD2C7FD-048E-484C-B478-49C18B1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0015C2D8-596D-4FF6-AC7A-5DDF692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 Curator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7843E1C-B306-40FD-920F-FF39104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rPr>
              <a:t>Matrix conversation ≠ source of truth · 人类可观察与干预</a:t>
            </a:r>
            <a:endParaRPr sz="700" b="0" i="0">
              <a:solidFill>
                <a:srgbClr val="AEBB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1D1D9CF6-7EF1-480D-AA3D-B828B00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05025"/>
            <a:ext cx="2381250" cy="25050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2579BC7C-2C74-4F01-ACFA-3E3D84F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DETERMINISTIC CORE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A027D9D-4153-4FAA-8AF7-2D25C15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Research State</a:t>
            </a:r>
            <a:endParaRPr sz="15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椭圆 59">
            <a:extLst xmlns:a="http://schemas.openxmlformats.org/drawingml/2006/main">
              <a:ext uri="{FF2B5EF4-FFF2-40B4-BE49-F238E27FC236}">
                <a16:creationId xmlns:a16="http://schemas.microsoft.com/office/drawing/2014/main" id="{A0C1B876-48B0-43DA-9C5B-8B6C0D6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A6768BE-2676-4AD7-85DE-FB55744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24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goal / plan / version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5BA93FCD-7C37-4889-9274-3AFE91A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02F3829-1AB7-48BB-A007-C9551F3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risk / approval / nonce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椭圆 63">
            <a:extLst xmlns:a="http://schemas.openxmlformats.org/drawingml/2006/main">
              <a:ext uri="{FF2B5EF4-FFF2-40B4-BE49-F238E27FC236}">
                <a16:creationId xmlns:a16="http://schemas.microsoft.com/office/drawing/2014/main" id="{5F6242C8-BA66-43B9-AA80-0FE429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4CF5400-AEC0-402E-9795-79690E5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 / metric / evidence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椭圆 65">
            <a:extLst xmlns:a="http://schemas.openxmlformats.org/drawingml/2006/main">
              <a:ext uri="{FF2B5EF4-FFF2-40B4-BE49-F238E27FC236}">
                <a16:creationId xmlns:a16="http://schemas.microsoft.com/office/drawing/2014/main" id="{805C0706-9A22-49A5-A5C4-C557603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B514D404-249F-4D60-835F-3DD1F60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 / memory refs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8C807DB-AC04-499C-84EB-6D5B97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LLM 提案 ≠ 系统裁决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B422BB92-6C1B-48C0-B6FF-819D7C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EVIDENCE PIPELINE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65E5CDC-ABF2-48ED-AE9B-078B09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2784AE-73E8-4863-981A-E60BB87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9620F7A9-7F06-4106-8824-860BEA1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Plan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92EFA87-FBF7-4537-95F9-129F02E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33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falsifiable + budget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CCB6277A-23C2-4DC1-86A5-4C3062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B9F80CF-1BCF-4195-8F3C-5275BF1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15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49F1990-80CB-405A-A7E2-CEE93A5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Approve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E1D9CCB1-6638-4F68-8225-C7A49B1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R2 / R3 human gate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4302A79-0E26-43B2-A677-115AD3B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6FB0A9A-EE35-46F5-9CAD-9C1443B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1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21999327-EE43-48AB-8859-9FF707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F640BEC5-4880-4023-94A7-84661B7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typed local action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20EF66B3-F6AE-4439-B7F4-78436E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909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2CDECB60-19C3-4E38-8148-AB18F5E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1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33F1CBED-F58E-4BB4-BE96-CD99BFD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5D66D65-4433-41BB-88E8-6FE9112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7 kinds + reviewer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6BD65D80-9EB4-40D2-81C5-03666A2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F2D31E82-E355-47BB-8C91-3F5D712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52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8F17514-FD67-4EB7-9308-670400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Learn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0081D17-0496-42DB-882A-6DA890B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validated memory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79" name="直接箭头连接符 158"/>
          <p:cNvCxnSpPr>
            <a:stCxn xmlns:a="http://schemas.openxmlformats.org/drawingml/2006/main" id="41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305050"/>
            <a:ext cx="3905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0" name="直接箭头连接符 159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819400"/>
            <a:ext cx="390525" cy="53816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1" name="直接箭头连接符 160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3333750"/>
            <a:ext cx="3905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2" name="直接箭头连接符 161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49053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3" name="直接箭头连接符 162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100488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95" name="直接连接符 94">
            <a:extLst xmlns:a="http://schemas.openxmlformats.org/drawingml/2006/main">
              <a:ext uri="{FF2B5EF4-FFF2-40B4-BE49-F238E27FC236}">
                <a16:creationId xmlns:a16="http://schemas.microsoft.com/office/drawing/2014/main" id="{391E277F-0872-40C4-B3A9-3913179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071560BB-06B5-403B-99BA-FD7667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EE141F4-F6F2-4BC3-BE66-2077EE2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72025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Decision = metric snapshot · gate digest · reviewer · audit hash</a:t>
            </a:r>
            <a:endParaRPr sz="84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639289F9-A82A-4266-8820-927563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SQLite · source of truth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31979B49-9EFF-41AD-8012-C66C873B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Filesystem · evidence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718051BF-0706-49C2-88F8-48AC2DD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OpenTelemetry-ready trace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9429DC28-EC07-4CCE-A4FC-43478CD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Skills · versioned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圆角矩形 101">
            <a:extLst xmlns:a="http://schemas.openxmlformats.org/drawingml/2006/main">
              <a:ext uri="{FF2B5EF4-FFF2-40B4-BE49-F238E27FC236}">
                <a16:creationId xmlns:a16="http://schemas.microsoft.com/office/drawing/2014/main" id="{BAE16DD7-AD7B-40C5-81C0-62CE222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External adapters · honest state</a:t>
            </a:r>
            <a:endParaRPr sz="69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0AAECA1A-6F2D-4206-80F1-86B5C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8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Local profile：无需 GPU / MCP / AgentTeams / Nacos / Higress 也能完成 judge replay</a:t>
            </a:r>
            <a:endParaRPr sz="7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1511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07074B-4C77-4552-8404-FD7963F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架构 · Agent Infra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1FB40-2DD2-4945-B1D1-D2618B7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协作层可替换，确定性控制面不可绕过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A5EABF-9D17-4BD9-AA44-D84A08A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3F998AD-EFC3-435F-9457-6CE708D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本地 API / Web / SQLite 已运行；MCP repo HTTP loopback 与 API→GPU bridge 仅在 tests 验证；平台组件均未连接。</a:t>
            </a:r>
            <a:endParaRPr sz="10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2E30D1FD-0E9B-4067-A2A5-6DDCBC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4345"/>
            <a:ext cx="11144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192A94E-966B-49B9-BB6B-A36D1D8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HUMAN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B8E1E7A-6F51-4A30-A20E-B6356EE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Researcher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93E9B313-7A30-4397-9882-BEAEA7A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Approver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AE3CECD-F420-421A-BD7C-F9FDCD0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0B9B6A2-5F39-47FA-8446-38BF9B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96DC7E6-BB41-447F-9117-D27702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Operator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2F75B6C-7081-479D-B6EE-8D492D7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COLLABORATION PLANE · AGENTTEAMS BASIS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2925637-6D42-4D83-8F44-09B9192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3638550" cy="2505075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0">
            <a:solidFill>
              <a:srgbClr val="1B1F3B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F60FE3-9A4D-4BD4-AEB1-97387F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47900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A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Research PI / Manager</a:t>
            </a:r>
            <a:endParaRPr sz="82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366D5D6-7962-4107-9B98-114DA5B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rPr>
              <a:t>1 Manager + 6 Workers · typed envelopes</a:t>
            </a:r>
            <a:endParaRPr sz="750" b="0" i="0">
              <a:solidFill>
                <a:srgbClr val="BFC9E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FAC2CE25-F531-46F6-B8F1-F9E87F7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45E874DB-4CAA-4DD6-B0E2-5AEEED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CF942107-3E99-4C00-B1EA-B9B570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B8D0D6A-809E-45C3-94E5-DB2E6E4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DD2C7FD-048E-484C-B478-49C18B1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0015C2D8-596D-4FF6-AC7A-5DDF692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7843E1C-B306-40FD-920F-FF39104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rPr>
              <a:t>Room 传递引用；DB 持有 authoritative state</a:t>
            </a:r>
            <a:endParaRPr sz="700" b="0" i="0">
              <a:solidFill>
                <a:srgbClr val="AEBB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1D1D9CF6-7EF1-480D-AA3D-B828B00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05025"/>
            <a:ext cx="2381250" cy="25050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2579BC7C-2C74-4F01-ACFA-3E3D84F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CONTROL PLANE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A027D9D-4153-4FAA-8AF7-2D25C15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FastAPI + SQLite</a:t>
            </a:r>
            <a:endParaRPr sz="15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椭圆 59">
            <a:extLst xmlns:a="http://schemas.openxmlformats.org/drawingml/2006/main">
              <a:ext uri="{FF2B5EF4-FFF2-40B4-BE49-F238E27FC236}">
                <a16:creationId xmlns:a16="http://schemas.microsoft.com/office/drawing/2014/main" id="{A0C1B876-48B0-43DA-9C5B-8B6C0D6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A6768BE-2676-4AD7-85DE-FB55744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24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state machine / version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5BA93FCD-7C37-4889-9274-3AFE91A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02F3829-1AB7-48BB-A007-C9551F3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policy / approval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椭圆 63">
            <a:extLst xmlns:a="http://schemas.openxmlformats.org/drawingml/2006/main">
              <a:ext uri="{FF2B5EF4-FFF2-40B4-BE49-F238E27FC236}">
                <a16:creationId xmlns:a16="http://schemas.microsoft.com/office/drawing/2014/main" id="{5F6242C8-BA66-43B9-AA80-0FE429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4CF5400-AEC0-402E-9795-79690E5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evidence / evaluator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椭圆 65">
            <a:extLst xmlns:a="http://schemas.openxmlformats.org/drawingml/2006/main">
              <a:ext uri="{FF2B5EF4-FFF2-40B4-BE49-F238E27FC236}">
                <a16:creationId xmlns:a16="http://schemas.microsoft.com/office/drawing/2014/main" id="{805C0706-9A22-49A5-A5C4-C557603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B514D404-249F-4D60-835F-3DD1F60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audit / replay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8C807DB-AC04-499C-84EB-6D5B97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Deterministic Core + LLM Residual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B422BB92-6C1B-48C0-B6FF-819D7C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TOOL &amp; EXECUTION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65E5CDC-ABF2-48ED-AE9B-078B09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2784AE-73E8-4863-981A-E60BB87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9620F7A9-7F06-4106-8824-860BEA1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Skills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92EFA87-FBF7-4537-95F9-129F02E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33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6 versioned packages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CCB6277A-23C2-4DC1-86A5-4C3062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B9F80CF-1BCF-4195-8F3C-5275BF1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15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49F1990-80CB-405A-A7E2-CEE93A5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MCP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E1D9CCB1-6638-4F68-8225-C7A49B1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4 srv / 7 tools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4302A79-0E26-43B2-A677-115AD3B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6FB0A9A-EE35-46F5-9CAD-9C1443B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1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21999327-EE43-48AB-8859-9FF707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Local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F640BEC5-4880-4023-94A7-84661B7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synthetic worker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20EF66B3-F6AE-4439-B7F4-78436E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909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2CDECB60-19C3-4E38-8148-AB18F5E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1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33F1CBED-F58E-4BB4-BE96-CD99BFD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Platform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5D66D65-4433-41BB-88E8-6FE9112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AgentTeams / Nacos / Higress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6BD65D80-9EB4-40D2-81C5-03666A2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F2D31E82-E355-47BB-8C91-3F5D712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52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8F17514-FD67-4EB7-9308-670400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Lab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0081D17-0496-42DB-882A-6DA890B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scheduler / GPU later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79" name="直接箭头连接符 158"/>
          <p:cNvCxnSpPr>
            <a:stCxn xmlns:a="http://schemas.openxmlformats.org/drawingml/2006/main" id="41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305050"/>
            <a:ext cx="3905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0" name="直接箭头连接符 159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819400"/>
            <a:ext cx="390525" cy="53816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1" name="直接箭头连接符 160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3333750"/>
            <a:ext cx="3905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2" name="直接箭头连接符 161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49053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83" name="直接箭头连接符 162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100488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95" name="直接连接符 94">
            <a:extLst xmlns:a="http://schemas.openxmlformats.org/drawingml/2006/main">
              <a:ext uri="{FF2B5EF4-FFF2-40B4-BE49-F238E27FC236}">
                <a16:creationId xmlns:a16="http://schemas.microsoft.com/office/drawing/2014/main" id="{391E277F-0872-40C4-B3A9-3913179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071560BB-06B5-403B-99BA-FD7667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EE141F4-F6F2-4BC3-BE66-2077EE2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72025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Default Web replay ≠ MCP call · no universal shell · exact-action approval</a:t>
            </a:r>
            <a:endParaRPr sz="84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639289F9-A82A-4266-8820-927563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repo · read-only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31979B49-9EFF-41AD-8012-C66C873B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dataset · manifest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718051BF-0706-49C2-88F8-48AC2DD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gpu · dry-run default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9429DC28-EC07-4CCE-A4FC-43478CD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metrics · deterministic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圆角矩形 101">
            <a:extLst xmlns:a="http://schemas.openxmlformats.org/drawingml/2006/main">
              <a:ext uri="{FF2B5EF4-FFF2-40B4-BE49-F238E27FC236}">
                <a16:creationId xmlns:a16="http://schemas.microsoft.com/office/drawing/2014/main" id="{BAE16DD7-AD7B-40C5-81C0-62CE222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API · evidence / trace</a:t>
            </a:r>
            <a:endParaRPr sz="69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0AAECA1A-6F2D-4206-80F1-86B5C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8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部署档位：local（已验证）｜MCP repo HTTP / bridge（tests）｜platform / lab（contracts）</a:t>
            </a:r>
            <a:endParaRPr sz="7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15114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EF7F39-1C65-4E7A-A20E-B5CA0FA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AgentTeams · 7 Identities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D5124-BF80-4C59-8E82-55A62A5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提案、执行、算分与签发必须分权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A7701E1-C1B6-478F-A5C0-4F522A6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Research PI 管 Control Flow；6 个 Worker 管 Task Flow；所有命令先变成 typed artifact，再交给确定性控制面。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64AD0DDB-9890-4793-A646-FA551B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657EBF8-0B46-4FA4-8B4A-669BBF7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437765"/>
            <a:ext cx="1085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MATRIX ROOM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BEDE353-300D-4A21-B680-26EC492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7044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 PI / Manager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DF8AEF-247D-49AE-BB07-A90090D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961640"/>
            <a:ext cx="497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rPr>
              <a:t>冻结 Goal · 分解 DAG · 路由 Worker · 合并结构化结果</a:t>
            </a:r>
            <a:endParaRPr sz="735" b="0" i="0">
              <a:solidFill>
                <a:srgbClr val="B8C5D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B31DC84-C1E3-4AA1-B013-96B0A61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FEBD3A8-E6CA-4028-887F-19C116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C3DAD04-5AA6-484B-B0C5-DF2E452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0C934D-2A5C-4A9A-8AF1-C5129D9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上下文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FC519BEB-1770-43D0-BE1C-C1B36FD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4DC659C-E68A-4A8D-894F-9F840D1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1B04CAE-520F-4536-AD64-1A14793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F4EABA-099F-43F5-89F9-EBD9028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实验设计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3A25F847-C881-4F3F-8A07-100A6F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74CA823-7227-4B75-8DCF-EF0F7899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E78439-76D0-4C33-B16B-D7FAD4C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D03A6CD-4017-4C0B-9D71-7C019E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3630938D-0ADF-4838-8F8D-323E1E9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1B10C-E633-40EF-BE41-57C832C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9D49E0D-10AD-4FC3-B6DC-A363236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903DDAC-4579-469A-9AA3-0851431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确定性算分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6D917FA7-BBF1-41CB-8F35-CE20CAF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CA829D7-37E4-4D98-A9A3-CD044D7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6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5139769-91AC-437D-9BA8-6D78CF2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99451F8F-59E3-4A77-B27C-C0D5520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独立复核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EC78FDDF-5E33-49C2-8AFF-977A633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C3709D6-B475-4941-B6B8-CDF2F7CF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AA153B2-9B2D-4D5B-B063-7AA70FE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 Curator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380801D-0451-430A-BD48-E28E2C0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验证后沉淀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51DAB7-54AB-4E28-B013-2E0D4AB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790440"/>
            <a:ext cx="497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责任链：Architect → Reviewer → Runtime → Evaluator → Reviewer → PI Decision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B9A3C4C-7121-413E-9B52-9A8EE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8004EC29-30BA-4F5D-A776-86929B5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437765"/>
            <a:ext cx="1123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IDENTITY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24DA2F6-4EF9-44A3-BC53-FE66FF2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3996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边界先于能力</a:t>
            </a:r>
            <a:endParaRPr sz="120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DBABCCB-02EA-4F58-B535-62A2FB0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7616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Research PI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578FB82-46AA-470B-A3CF-CAFF384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27616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路由 / 决策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583CDED-5F11-449D-A1C1-BF4EAF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27616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不得改 raw metrics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C829B28B-8804-4F36-8B35-ABF39B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283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A756D6C-83A8-467A-835B-346569E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568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6C9F716-F6E8-48DA-A5CC-78A7AAF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0568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检索 / 冻结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5F23D0A-BD95-499D-821D-F3D444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0568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不得启动实验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直接连接符 77">
            <a:extLst xmlns:a="http://schemas.openxmlformats.org/drawingml/2006/main">
              <a:ext uri="{FF2B5EF4-FFF2-40B4-BE49-F238E27FC236}">
                <a16:creationId xmlns:a16="http://schemas.microsoft.com/office/drawing/2014/main" id="{7FB739EA-A98F-4090-8368-847E16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235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59268B9-1984-45DC-8F89-4FFC536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521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94F189BD-CB87-48C8-8E04-4ECD1ED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3521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hypothesis / DAG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AD824AF9-0EB5-4595-A56C-BC59664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3521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不得自批计划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直接连接符 81">
            <a:extLst xmlns:a="http://schemas.openxmlformats.org/drawingml/2006/main">
              <a:ext uri="{FF2B5EF4-FFF2-40B4-BE49-F238E27FC236}">
                <a16:creationId xmlns:a16="http://schemas.microsoft.com/office/drawing/2014/main" id="{4DFBE7C8-4155-4BA2-B028-A88156F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1886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A5837AE-E559-4317-ADE6-A101EAC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4744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8BA7E27D-41ED-43C3-99EC-17320DB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64744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typed MCP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5CA8622C-CB54-40A7-AD1D-CE726F9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64744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不得任意 shell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直接连接符 85">
            <a:extLst xmlns:a="http://schemas.openxmlformats.org/drawingml/2006/main">
              <a:ext uri="{FF2B5EF4-FFF2-40B4-BE49-F238E27FC236}">
                <a16:creationId xmlns:a16="http://schemas.microsoft.com/office/drawing/2014/main" id="{DBEE7165-561A-4184-9F67-C31FBCE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1414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8B77912F-C173-4E1A-B2A3-8362AFD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427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39D5F2F2-0CAC-420F-95C0-488D26E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9427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metric / CI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5E9460E-B767-4C72-B969-6C06A9E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9427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不得改 checkpoint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CE63147B-DD81-49E2-ADB1-91B33C4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094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53603D4-F7BF-4100-84A9-51E1B0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379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99E5E4D4-B36D-401F-8E1E-0A1EB79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2379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反证 / gate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B1CE048-680E-418F-91F4-CAFE85E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2379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不得执行所审实验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直接连接符 93">
            <a:extLst xmlns:a="http://schemas.openxmlformats.org/drawingml/2006/main">
              <a:ext uri="{FF2B5EF4-FFF2-40B4-BE49-F238E27FC236}">
                <a16:creationId xmlns:a16="http://schemas.microsoft.com/office/drawing/2014/main" id="{B3A75D54-F5EE-4432-8A31-9F6BF02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046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591D0B-9ADE-45B6-B02A-391CCC5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332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Memory Curator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6150BD77-293F-46DE-B033-AD802C0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5332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validated write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06E59B0-AFF1-43AE-BB40-C013F80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5332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不得把猜测写成事实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7075BB1-C768-471D-B1F2-1580411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847590"/>
            <a:ext cx="498094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Name · Role · Capabilities · Inputs/Outputs · Dependencies · Decision Boundary · Trace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204E02AA-B214-4B57-B93D-E190326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INTAKE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3463CE5-2E44-4A68-9788-A35C6102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CONTEXT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15B92812-4D73-46CE-803F-D63BB24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PLAN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4C746EC5-6265-4B1E-A1D3-CDA4451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REVIEW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939229A9-1DC1-439F-8029-3CDC59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APPROVAL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0018525-943B-42B4-829C-506E7B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149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4A60DD-905E-49A0-955A-43EF3E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EVALUATE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7DCA0CF-F1BA-4D14-9E43-5CBDC2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5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770AFC2F-BBE8-4432-96A3-E9C0FC5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57825"/>
            <a:ext cx="1371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DECIDE →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MEMORY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FB34B2C0-1D2B-4D7C-91AA-F0D19CB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共享引用：task_id · goal_digest · plan_digest · run_id · evidence_ids · trace_id</a:t>
            </a:r>
            <a:endParaRPr sz="73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B3F0FCE7-D102-4179-8636-EDDFCFE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AgentTeams 未实连；default Web 无 HTTP MCP client；API→GPU bridge 仅由 tests 验证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96554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EF7F39-1C65-4E7A-A20E-B5CA0FA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Policy · Approval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D5124-BF80-4C59-8E82-55A62A5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聊天里的“同意”，不能启动一项 R2 实验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A7701E1-C1B6-478F-A5C0-4F522A6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风险分类、action digest、scope、expiry、nonce 与 replay ledger 由代码执法；R2 / R3 必须停在人类 checkpoint。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64AD0DDB-9890-4793-A646-FA551B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657EBF8-0B46-4FA4-8B4A-669BBF7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437765"/>
            <a:ext cx="1085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RISK POLICY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BEDE353-300D-4A21-B680-26EC492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7044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R0 → R3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DF8AEF-247D-49AE-BB07-A90090D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961640"/>
            <a:ext cx="497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rPr>
              <a:t>动作越昂贵或不可逆，授权越严格</a:t>
            </a:r>
            <a:endParaRPr sz="735" b="0" i="0">
              <a:solidFill>
                <a:srgbClr val="B8C5D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B31DC84-C1E3-4AA1-B013-96B0A61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FEBD3A8-E6CA-4028-887F-19C116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R0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C3DAD04-5AA6-484B-B0C5-DF2E452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Read only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0C934D-2A5C-4A9A-8AF1-C5129D9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自动 + audit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FC519BEB-1770-43D0-BE1C-C1B36FD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4DC659C-E68A-4A8D-894F-9F840D1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R1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1B04CAE-520F-4536-AD64-1A14793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Bounded mutation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F4EABA-099F-43F5-89F9-EBD9028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≤2 modeled GPU·h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3A25F847-C881-4F3F-8A07-100A6F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74CA823-7227-4B75-8DCF-EF0F7899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R2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E78439-76D0-4C33-B16B-D7FAD4C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Expensive run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D03A6CD-4017-4C0B-9D71-7C019E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human approval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3630938D-0ADF-4838-8F8D-323E1E9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1B10C-E633-40EF-BE41-57C832C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R3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9D49E0D-10AD-4FC3-B6DC-A363236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Critical action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903DDAC-4579-469A-9AA3-0851431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approval + rollback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6D917FA7-BBF1-41CB-8F35-CE20CAF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CA829D7-37E4-4D98-A9A3-CD044D7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66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5139769-91AC-437D-9BA8-6D78CF2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No token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99451F8F-59E3-4A77-B27C-C0D5520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fail closed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EC78FDDF-5E33-49C2-8AFF-977A633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C3709D6-B475-4941-B6B8-CDF2F7CF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X1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AA153B2-9B2D-4D5B-B063-7AA70FE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Used token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380801D-0451-430A-BD48-E28E2C0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rejected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51DAB7-54AB-4E28-B013-2E0D4AB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790440"/>
            <a:ext cx="497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bypass / expiry / scope mismatch / nonce replay → structured error + audit event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B9A3C4C-7121-413E-9B52-9A8EE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8004EC29-30BA-4F5D-A776-86929B5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437765"/>
            <a:ext cx="1123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APPROVAL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24DA2F6-4EF9-44A3-BC53-FE66FF2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3996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一次批准只对应一次精确动作</a:t>
            </a:r>
            <a:endParaRPr sz="120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DBABCCB-02EA-4F58-B535-62A2FB0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7616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requester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578FB82-46AA-470B-A3CF-CAFF384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27616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identity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583CDED-5F11-449D-A1C1-BF4EAF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27616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谁提出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C829B28B-8804-4F36-8B35-ABF39B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283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A756D6C-83A8-467A-835B-346569E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568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action_digest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6C9F716-F6E8-48DA-A5CC-78A7AAF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0568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SHA-256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5F23D0A-BD95-499D-821D-F3D444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0568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绑定 config / budget / entrypoint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直接连接符 77">
            <a:extLst xmlns:a="http://schemas.openxmlformats.org/drawingml/2006/main">
              <a:ext uri="{FF2B5EF4-FFF2-40B4-BE49-F238E27FC236}">
                <a16:creationId xmlns:a16="http://schemas.microsoft.com/office/drawing/2014/main" id="{7FB739EA-A98F-4090-8368-847E16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235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59268B9-1984-45DC-8F89-4FFC536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521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94F189BD-CB87-48C8-8E04-4ECD1ED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3521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task + generation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AD824AF9-0EB5-4595-A56C-BC59664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3521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不能跨任务复用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直接连接符 81">
            <a:extLst xmlns:a="http://schemas.openxmlformats.org/drawingml/2006/main">
              <a:ext uri="{FF2B5EF4-FFF2-40B4-BE49-F238E27FC236}">
                <a16:creationId xmlns:a16="http://schemas.microsoft.com/office/drawing/2014/main" id="{4DFBE7C8-4155-4BA2-B028-A88156F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1886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A5837AE-E559-4317-ADE6-A101EAC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4744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expiry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8BA7E27D-41ED-43C3-99EC-17320DB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64744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≤15 minutes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5CA8622C-CB54-40A7-AD1D-CE726F9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64744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过期即失效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直接连接符 85">
            <a:extLst xmlns:a="http://schemas.openxmlformats.org/drawingml/2006/main">
              <a:ext uri="{FF2B5EF4-FFF2-40B4-BE49-F238E27FC236}">
                <a16:creationId xmlns:a16="http://schemas.microsoft.com/office/drawing/2014/main" id="{DBEE7165-561A-4184-9F67-C31FBCE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1414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8B77912F-C173-4E1A-B2A3-8362AFD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427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nonce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39D5F2F2-0CAC-420F-95C0-488D26E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9427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single-use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5E9460E-B767-4C72-B969-6C06A9E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9427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原子消费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CE63147B-DD81-49E2-ADB1-91B33C4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094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53603D4-F7BF-4100-84A9-51E1B0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379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rollback_point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99E5E4D4-B36D-401F-8E1E-0A1EB79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2379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baseline plan pointer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B1CE048-680E-418F-91F4-CAFE85E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2379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仅记录指针；未执行回滚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直接连接符 93">
            <a:extLst xmlns:a="http://schemas.openxmlformats.org/drawingml/2006/main">
              <a:ext uri="{FF2B5EF4-FFF2-40B4-BE49-F238E27FC236}">
                <a16:creationId xmlns:a16="http://schemas.microsoft.com/office/drawing/2014/main" id="{B3A75D54-F5EE-4432-8A31-9F6BF02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046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591D0B-9ADE-45B6-B02A-391CCC5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332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audit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6150BD77-293F-46DE-B033-AD802C0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5332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hash chain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06E59B0-AFF1-43AE-BB40-C013F80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5332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每次决定可重放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7075BB1-C768-471D-B1F2-1580411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847590"/>
            <a:ext cx="498094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共享 secret：API mint egoap1 → GPU MCP 单次接受 / replay 拒绝；UI fallback 不互通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204E02AA-B214-4B57-B93D-E190326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INTAKE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3463CE5-2E44-4A68-9788-A35C6102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PLAN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15B92812-4D73-46CE-803F-D63BB24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REVIEW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4C746EC5-6265-4B1E-A1D3-CDA4451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APPROVAL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939229A9-1DC1-439F-8029-3CDC59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BLOCKED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0018525-943B-42B4-829C-506E7B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149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APPROVED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ONCE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4A60DD-905E-49A0-955A-43EF3E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7DCA0CF-F1BA-4D14-9E43-5CBDC2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5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770AFC2F-BBE8-4432-96A3-E9C0FC5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57825"/>
            <a:ext cx="1371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DECIDE /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ARCHIVE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FB34B2C0-1D2B-4D7C-91AA-F0D19CB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状态与操作状态分离：task stage · run status · approval status · integration truth</a:t>
            </a:r>
            <a:endParaRPr sz="73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B3F0FCE7-D102-4179-8636-EDDFCFE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已验证：无审批被拒绝；token replay 被拒绝；missing trace 停在 VERIFY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96554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D104BA-63CA-4424-A28E-2504B93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Skills + MCP · 工程体系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BB03D1-AFBA-4A6F-9EFC-7161592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62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Skill 规定“怎么做”，MCP 限定“能调用什么”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08468C-37AC-4880-9D82-C5100BD5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4C202-6A41-4F7F-8FC8-BA73AB9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6+4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0D0346FC-38E6-4736-8F7B-ED6DBDD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8250"/>
            <a:ext cx="9620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6 个 versioned Skill 组织研究流程；4 个独立 MCP server 把 repo、dataset、GPU 与 metrics 收进 typed boundary。</a:t>
            </a:r>
            <a:endParaRPr sz="9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B011DD3-E4D4-4815-81B8-63A43D8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11144250" cy="4057650"/>
          </a:xfrm>
          <a:prstGeom xmlns:a="http://schemas.openxmlformats.org/drawingml/2006/main" prst="roundRect">
            <a:avLst>
              <a:gd name="adj" fmla="val 37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71B5C9C-79F3-4968-BD17-AEA19E3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952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SKILL MAP</a:t>
            </a:r>
            <a:endParaRPr sz="67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DDECC3D-3680-4071-925F-DC745C6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574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6 个可复用能力</a:t>
            </a:r>
            <a:endParaRPr sz="12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DC125510-ACD5-45B7-94E0-8B65456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6702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75E6007D-AEBC-475D-A23E-35ED2CF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72018B0-91ED-48F1-A7AB-0BBD9723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ResearchPlan</a:t>
            </a:r>
            <a:endParaRPr sz="79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43F922C-C7F4-4382-AA84-BE04925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goal.freeze · plan.validate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19E3801A-FA08-489D-8379-678EBE7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97DDB80-D332-4AE1-AEF5-E010D2BC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F529C8E-553D-43B9-809B-D3B503E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Dataset
Manifest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31A32BF1-AC82-4927-9C16-45DE42B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hash once · verify digest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48277116-2FBC-43AB-BA5C-D1F0E33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2432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24608A2E-B99C-43B4-95BF-F673C196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49F7846-6B96-4721-8EE5-BE4CBEBB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SafeRunner</a:t>
            </a:r>
            <a:endParaRPr sz="79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D58902D-3986-4A1C-BB7A-E229FD2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allowlist · approval · idempotency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D85A8086-55B5-4BC4-8191-830BA5FC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5297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10FA8613-9364-4625-B340-AC69B46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82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809365-516E-4D4F-B169-FB5BD744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Ablation
Analyzer</a:t>
            </a:r>
            <a:endParaRPr sz="79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0BE32BA-6A97-4E81-B525-A342C7CC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paired delta · bootstrap CI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EB3036D-A7A0-414E-9D6A-D0621A1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+ EvidenceGate / ResearchMemory；所有包均含 I/O、trigger、failure、safety、version。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817383-583C-4A98-AA07-E0D3905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71700"/>
            <a:ext cx="1181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COMPOSITE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37F8CDA-F767-4AB9-8F6D-5B1F2CD5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57450"/>
            <a:ext cx="453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run_research_task@0.1.0</a:t>
            </a:r>
            <a:endParaRPr sz="1275" b="1" i="0">
              <a:solidFill>
                <a:srgbClr val="2563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9C69F8B-B988-4712-B290-D3E6E56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1940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D6955C2-043D-46FF-9F31-2C1C8DBE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ResearchGoal + ContextBundle + Budget + Policy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F7F6C98-0219-4887-B2A1-B0458A5E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7182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输出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148ED7-CFCF-47A4-B5AB-6E61989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182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RunManifest + MetricArtifact + Review + Decision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6FD512C0-4052-40E8-AEF2-2B9D2EA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2425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触发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679402-A35F-40E5-946C-5835F96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Goal frozen · plan reviewed · action authorized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78DAE9-431A-4FAC-8C8C-D997E683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7667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依赖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65D2DEE-50B5-4C20-B469-1092E902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66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6 Skills · 4 MCP · evidence store · audit log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DA3E337-656F-45AD-B311-E39B86E3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2910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失败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DB355A21-701C-4959-96C1-647B055C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MissingEvidence→PLAN；ApprovalDenied→BLOCKED；ToolError→typed retry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FF769A5-FC16-4C42-AF6A-F6DDA91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8152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安全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CD8CBDE2-813F-447A-BCBF-2D3BA31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8152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no universal shell · trusted roots · exact-action token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E2EC5C63-A02C-41EB-BCF3-9ADD5C1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93395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7ED96C6D-33C3-4B9E-98ED-F66BE4CD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3395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JSON Schema · digest closure · independent Reviewer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75846D7-61CC-46B1-964B-4556221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28637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复用/版本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221B0F9B-B28F-4112-806B-5B16683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863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SemVer + package digest；validated memory → Skill candidate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ECF66CF-A57E-4B76-8975-F532981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695950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fail-closed：LLM summary 不等于 metric；chat approval 不等于 authorization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B055676F-2008-4E88-947F-32E7AA7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18669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MCP v2 · 4 SERVERS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C15EB2-B08A-4566-844E-243804F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57450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7 typed tools</a:t>
            </a:r>
            <a:endParaRPr sz="12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圆角矩形 79">
            <a:extLst xmlns:a="http://schemas.openxmlformats.org/drawingml/2006/main">
              <a:ext uri="{FF2B5EF4-FFF2-40B4-BE49-F238E27FC236}">
                <a16:creationId xmlns:a16="http://schemas.microsoft.com/office/drawing/2014/main" id="{9A2E8F34-AD28-446B-A16A-56CF7C3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6384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repo：snapshot / read_files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只读 trusted root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A7A150D0-A2EC-44FC-9910-F0D31A1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71875"/>
            <a:ext cx="26384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dataset：create / verify manifest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gpu：launch / status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D87B513D-9D95-4B90-8A0E-76AD54A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43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当前状态</a:t>
            </a:r>
            <a:endParaRPr sz="67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A87B997D-4A61-47BF-815F-7CCA32F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21 PASS · repo HTTP loopback smoke</a:t>
            </a:r>
            <a:endParaRPr sz="675" b="0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22F64D6D-3291-4445-885C-1278496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57725"/>
            <a:ext cx="2638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metrics_compare_paired</a:t>
            </a:r>
            <a:endParaRPr sz="7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ACAEDCAE-969F-4517-8BC1-924CA89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638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76200" tIns="66675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fixed-seed bootstrap · structured errors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GPU dry-run default · shell=False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仅 packaged synthetic_worker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2FBA2B1D-AE8B-43E8-AE5F-AE2EAC1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67375"/>
            <a:ext cx="263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+2 API→GPU MCP bridge PASS；default Web no HTTP client</a:t>
            </a:r>
            <a:endParaRPr sz="655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51982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EgoLite · SYNTHETIC WORKLOAD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先验证 ResearchOps 闭环，再连接真实实验室资源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SYNTHETIC：以下模型、GPU、资源与研究指标均为 fixtures；控制面、审批、证据、测试与 UI 为本仓库实际运行。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一个窄而真实的研究问题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RESEARCH GOAL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4 个对照臂，3 个 seeds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EXPERIMENT PLAN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高成本执行先暂停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POLICY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结论必须绑定原始证据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EVIDENCE GATE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≥10 FPS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acceptance target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≤5%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MPJPE degradation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EgoLite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streaming perception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替换 heavy video representation；不把目标阈值写成真实结果。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4 arms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LTX2B + 3 candidates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3 seeds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fixed split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24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modeled GPU·h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no GPU host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Plan digest + budget + entrypoint 共同决定 R2；默认 dry-run。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R2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human checkpoint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task + generation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≤15 min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single-use token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未批准：执行入口保持 BLOCKED；批准不能跨 scope、过期或重放。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7 / 7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required evidence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KEEP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only after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code · config · dataset manifest · log · metric · trace · review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Fixture source：examples/egolite/；真实 hardware / AgentTeams / cloud 均不在本轮宣称范围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JUDGE REPLAY · CHECKPOINT 1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R2 审批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先停住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真实 Web Cockpit · 本地运行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Current gate = APPROVAL；R2 执行在 token 消费前保持 blocked。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c549370bc4df0"/>
          <a:srcRect xmlns:a="http://schemas.openxmlformats.org/drawingml/2006/main" l="7355" t="0" r="7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1261745"/>
            <a:ext cx="7000875" cy="4619625"/>
          </a:xfrm>
          <a:prstGeom xmlns:a="http://schemas.openxmlformats.org/drawingml/2006/main" prst="roundRect">
            <a:avLst>
              <a:gd name="adj" fmla="val 3299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be8a1b1b64c46"/>
          <a:stretch xmlns:a="http://schemas.openxmlformats.org/drawingml/2006/main"/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JUDGE REPLAY · CHECKPOINT 2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 / 7 后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才允许 KEEP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真实 Web Cockpit · 本地运行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完成 13-stage replay；gate PASS、independent Reviewer、decision 与 trace 绑定。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99528d2a74b58"/>
          <a:srcRect xmlns:a="http://schemas.openxmlformats.org/drawingml/2006/main" l="7355" t="0" r="7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1261745"/>
            <a:ext cx="7000875" cy="4619625"/>
          </a:xfrm>
          <a:prstGeom xmlns:a="http://schemas.openxmlformats.org/drawingml/2006/main" prst="roundRect">
            <a:avLst>
              <a:gd name="adj" fmla="val 3299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ca045c344448c"/>
          <a:stretch xmlns:a="http://schemas.openxmlformats.org/drawingml/2006/main"/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Evidence · 2026-08-09 本地复测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不是概念稿：API、Web、MCP transport 与 replay 都有当前证据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工作负载仍为 SYNTHETIC；下列 test counts、build 与 gate 行为来自本仓库当前运行。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FastAPI control plane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BACKEND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React Web Cockpit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FRONTEND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MCP v2 tool plane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MCP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CLOSED LOOP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23 / 23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API/domain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Ruff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MyPy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state · policy · approval · evidence · evaluator · persistence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4 / 4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Web tests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Build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Vite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console errors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UI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SYNTHETIC labeled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 approval / completed 截图来自运行中的 localhost:4173。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21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MCP standalone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API→GPU bridge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23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make test-mcp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4 servers / 7 tools · repo HTTP initialize/tools/list · default Web no MCP client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7 / 7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gate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KEEP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VALID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full event chain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approval consumed；bypass + replay blocked；missing-trace → VERIFY / no decision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证据命令：uv run pytest · npm test/build · uv run --project mcp_servers pytest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Failure first · SYNTHETIC REPLAY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系统不隐藏失败；它把失败变成可验证 procedure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资源曲线与模型结果均为 SYNTHETIC fixtures；恢复状态机、manifest 生成、证据记录与 memory gate 为真实代码路径。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症状被记录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OBSERVE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诊断不是聊天结论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REVIEW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恢复动作受控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RECOVER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经验不能直接发布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MEMORY → SKILL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GPU low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synthetic signal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CPU high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hash saturation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data wait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startup bottleneck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Runtime 保留失败日志；原始 trace 不因重试被覆盖。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SHA-256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repeated full hash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confirms evidence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PLAN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bounded recovery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No guess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must cite trace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Diagnosis：worker startup 反复全量 hashing，阻塞 data path。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Hash once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publish time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content digest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Replay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same digest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DatasetManifest 只在 trusted root 写固定 manifest；重放可验证。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validated success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Candidate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not published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Nacos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not configured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Trace → episodic memory → procedural memory → reviewed Skill candidate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只有独立 review、足够成功次数与 registry response 才能标记 published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C6F0F8-13BF-426B-BD07-4E2DB554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开放与集成 · 事实边界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724FD2-4947-41BE-B616-A213D341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本地闭环已经可运行；外部平台绝不靠 PPT 变成“已接通”</a:t>
            </a:r>
            <a:endParaRPr sz="21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8C9ADC-CD90-4316-B6C7-A2972B1E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CCD4B7-6EE4-4914-816E-B563E67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LOCAL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C9DBB90-66EB-4982-AEFB-5CE4E2B4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8250"/>
            <a:ext cx="9620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每个 adapter 只显示 not_configured / configured / reachable / verified；没有握手与负测，就不写 verified。</a:t>
            </a:r>
            <a:endParaRPr sz="97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D5BFE9B5-0C44-47E1-BC72-E1671FA7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1144250" cy="4000500"/>
          </a:xfrm>
          <a:prstGeom xmlns:a="http://schemas.openxmlformats.org/drawingml/2006/main" prst="roundRect">
            <a:avLst>
              <a:gd name="adj" fmla="val 38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241CC96-BF4A-4CCF-9C37-954CB0A8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09800"/>
            <a:ext cx="3238500" cy="3600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开放：可重放的 Agent Infra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6CA898D6-D9F4-4B4B-A990-339895BA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APACHE-2.0 CORE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C8FF61E6-AB23-478A-B687-2472F3C0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5702404-F390-4961-B2F1-9063E277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3238500" cy="3600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不开放：私有资产与权限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5E574DB-7EAD-4084-9DC7-45F48FE6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SOVEREIGN BOUNDARY</a:t>
            </a:r>
            <a:endParaRPr sz="65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5CCE3FFD-9BD9-4B41-A9EF-84ACAC2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60A8EB61-9BD0-4BB5-9E7D-005DB8C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3971925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集成状态：逐项如实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9E119B21-DA77-4D5A-8978-7ED42EE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INTEGRATION TRUTH</a:t>
            </a:r>
            <a:endParaRPr sz="65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直接连接符 47">
            <a:extLst xmlns:a="http://schemas.openxmlformats.org/drawingml/2006/main">
              <a:ext uri="{FF2B5EF4-FFF2-40B4-BE49-F238E27FC236}">
                <a16:creationId xmlns:a16="http://schemas.microsoft.com/office/drawing/2014/main" id="{5E4C2D1E-86E5-4CA6-B998-46D8E719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68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747C5908-0BA7-44AF-8990-34C1DE9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751AC06-E475-4CD8-B79D-40EBEDB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FastAPI + Web Cockpit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55664DE-1FBF-4915-921F-3BC6E6D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F3A273F-803C-4DD4-8322-64C2304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7 Agent Identity contracts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8CE97DE0-4708-4167-8380-F783E1AE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677B8D2-1218-4D7A-91DD-DC24FDCF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6 versioned Skill packages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601D103-00FA-476D-9F28-83C5FAEC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AB6A1986-ACB6-4298-B904-91622EA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4 MCP servers / 7 tools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FE72D818-D3CA-4402-AAA8-D1130790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4D35558-9493-4847-87F5-D069C9A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EgoLite synthetic fixtures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40889D80-E330-4970-AD6D-B42C3F9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BC3A526-6E98-41E5-A9CD-A0FDD7A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tests · replay · docs · schemas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F7E7A7CB-F0C0-4947-A6F7-16DFAAA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2905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License · SECURITY · THIRD_PARTY · DATA/MODEL CARD 已包含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50DB61D-E0CD-497F-A621-19EB17EC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861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原始 ego / lab 数据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19E8E02-C24E-45B3-80A2-F358418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不进入提交包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81C5E46-8C66-457C-A413-8BBDC288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4E29F68B-ED3D-42BC-A0E5-7867362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第三方权重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90A2DC3-BBD2-4D71-8B23-76B7549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338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遵循 upstream license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8CF7F671-B868-4C1F-A53E-D18E886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BB79993-3C02-47B9-8DF4-B44976B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API keys / secrets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FE262294-D558-47F6-9D2D-4593EF3B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814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不提交；只用短期凭证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088C20F8-0B76-4B5B-9090-7DB597A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B90EEF4-2328-4732-98D9-4FA136B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291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真实 GPU / scheduler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B052C-FE19-4717-A228-909531C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29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operator-owned adapter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9992F55E-0019-430F-B239-38B4048B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7743DBA3-6102-4792-87FA-CA4D32A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76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AgentTeams room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A03ED717-5EE8-42C2-998F-6D82FB9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7682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消息不是 source of truth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3D92E58D-7112-4AEC-BB80-C57BDB7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4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字段权限、留存和费用随部署 profile 显式披露</a:t>
            </a:r>
            <a:endParaRPr sz="64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EB93FD0-15CD-46DA-8479-3AEBADD7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6420AC64-7EFC-4F85-B49E-B3E55CE3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local API / Web / SQLite；repo HTTP + GPU bridge tests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B873569D-4AC0-432D-A577-DC58495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290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未配置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0987A116-DFC1-4580-BBD2-BA9EB01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2902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AgentTeams · Nacos · Higress · Aliyun SLS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351FABD-F0D8-484B-8B4D-E282A11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未声称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0CF4B22C-C4C5-4B7F-9409-31E606D9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live GPU · real model gains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EE7D2F01-FD43-4C7B-8269-D6A2BF0E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71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接口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E0B6F3AE-3438-43C6-B3E0-15C1338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typed envelopes · health truth states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4CAA6CD2-6C12-4287-9A1A-6B2374B7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复赛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E421CE5F-AD02-4EDC-A75E-21387C7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真实 Matrix room + OTel export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0EC6BC3-C808-4A85-8CAA-94FEF6A5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决赛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B1A63712-0854-4D83-8354-36935E4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1492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受控 scheduler / GPU adapter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192F76DF-4B25-4B7C-8D7A-36B8766A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530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维护：Schema / Skill / MCP 按 SemVer；deprecation 先告警，再迁移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587096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F51AC9-E9C1-469C-92B4-9081228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进展 · Evidence first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3930BA-3388-4FD1-BAEF-65D94FC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已验证、已实现、待接入三层分开陈述</a:t>
            </a:r>
            <a:endParaRPr sz="20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AB272DA-0D45-43C0-B598-0A3A0B3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8BD6755-16E5-4063-8240-EABFB82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990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6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初赛提交一个能 replay 的 local product；复赛再用真实平台证据升级 integration state。</a:t>
            </a:r>
            <a:endParaRPr sz="96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91F543-D958-4BCB-9B7A-CE4DA3A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28825"/>
            <a:ext cx="5381625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161925" tIns="428625" rIns="16192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现在拥有什么</a:t>
            </a:r>
            <a:endParaRPr sz="12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57757CFB-0540-45BD-BB5A-4F14101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2954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EVIDENCE LADDER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968A5B8D-27AC-48A1-A7D9-3044340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758DCD4-E3D4-4FF4-8B33-F0CE673D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3370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已运行</a:t>
            </a:r>
            <a:endParaRPr sz="6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7B7AF80-E280-4C50-922A-E7FCC060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0512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local control plane + Web Cockpit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440CA1B-C191-495A-9E76-E18B1AA7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9087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FastAPI / SQLite / approval / evidence gate / trace / replay；实际页面与截图已核验。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4AF317DC-9987-471D-994F-D6F796B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6FA9BA64-76FB-4016-8DC6-DD10637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6715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  <a:endParaRPr sz="61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1E10AD4-5F99-4C3B-A6FF-2C25392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3857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23 API · 4 Web · 21 MCP + 2 bridge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47FF777-BE94-4933-8DEC-3DB0C45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2432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R2 pause · 7/7 gate · KEEP；default Web 无 HTTP MCP client。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9F1D2208-9D63-4EA7-86B6-43A8CBD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D21FE314-427F-4650-86D5-3A3E3DA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0060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未配置</a:t>
            </a:r>
            <a:endParaRPr sz="615" b="1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B175949F-9FD1-4BEC-8587-0FA57D84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7202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AgentTeams / Nacos / Higress / Aliyun / live GPU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2D13400D-5A89-46A5-8872-0BAE452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5777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仓库保留 adapter contracts 与 truth states；不把 contract 写成已集成。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9F19012-2C1F-4EAB-BC00-75F85F9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SYNTHETIC：EgoLite workload、resource trace、model metrics 均非真实 GPU / dataset 实测。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25ACF03F-7C16-43A9-AF12-4EDF318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400675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  <p:txBody>
          <a:bodyPr xmlns:a="http://schemas.openxmlformats.org/drawingml/2006/main" lIns="171450" tIns="428625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从初赛到决赛的验收梯子</a:t>
            </a:r>
            <a:endParaRPr sz="12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3272EF5-C138-4B34-935D-500D6D2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DELIVERY PLAN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椭圆 55">
            <a:extLst xmlns:a="http://schemas.openxmlformats.org/drawingml/2006/main">
              <a:ext uri="{FF2B5EF4-FFF2-40B4-BE49-F238E27FC236}">
                <a16:creationId xmlns:a16="http://schemas.microsoft.com/office/drawing/2014/main" id="{898E3509-9A30-4F4C-A0A5-19D4AB3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68FCA4FF-55E7-4F92-A4E7-C6775B5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765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19B1B4B-4967-48D0-9F81-209EEE1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08.09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2637A15-F34E-42E0-8A45-F36311C1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Local replay locked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054BE70E-CAF4-4F00-B813-80BEB14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0987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现在</a:t>
            </a:r>
            <a:endParaRPr sz="60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42AA6307-36ED-4847-9E13-A4F247A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API · Web · Skills · tests · screenshots；MCP bridge = tests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F453072B-C3A1-4E09-BA71-B9A71163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8B078E1-CE6A-4FE0-A7F5-9B2A580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00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B4133D9-E5DF-43D9-B8B5-86E0B1D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6232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08.10–08.15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8664F84-A5C4-4CDA-A351-1C34303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4327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Submission package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FFB799F0-5849-4061-8008-C0937D72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33750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初赛</a:t>
            </a:r>
            <a:endParaRPr sz="60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15DE07E-6522-47AF-B4A4-5BEF761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528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PPT/PDF · summary · runbook · ZIP verification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椭圆 67">
            <a:extLst xmlns:a="http://schemas.openxmlformats.org/drawingml/2006/main">
              <a:ext uri="{FF2B5EF4-FFF2-40B4-BE49-F238E27FC236}">
                <a16:creationId xmlns:a16="http://schemas.microsoft.com/office/drawing/2014/main" id="{56450D94-CABB-450A-982D-B768414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B507E1EF-2DC6-4EE6-BCEB-9B21176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243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F983AF13-0ED1-484F-9735-8AB0323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复赛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224E586-02A6-4AC5-AC76-035777D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Live AgentTeams room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圆角矩形 71">
            <a:extLst xmlns:a="http://schemas.openxmlformats.org/drawingml/2006/main">
              <a:ext uri="{FF2B5EF4-FFF2-40B4-BE49-F238E27FC236}">
                <a16:creationId xmlns:a16="http://schemas.microsoft.com/office/drawing/2014/main" id="{8CDB2D5C-EF3E-4E0A-A94C-965348E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5762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下一阶段</a:t>
            </a:r>
            <a:endParaRPr sz="6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EF980F15-49A8-4C43-A002-EE34207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typed envelopes · human intervention · room trace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椭圆 73">
            <a:extLst xmlns:a="http://schemas.openxmlformats.org/drawingml/2006/main">
              <a:ext uri="{FF2B5EF4-FFF2-40B4-BE49-F238E27FC236}">
                <a16:creationId xmlns:a16="http://schemas.microsoft.com/office/drawing/2014/main" id="{02B4C68C-4F1C-4415-9FFF-EA54470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0C92C08-1641-471E-87BF-4F9EA36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5C7F4B17-125C-430F-8F51-57E1286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007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复赛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13E14C89-5358-4832-9053-55F4A9A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91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Platform probes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31C18D04-6599-44EC-B9FE-80368C3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81500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下一阶段</a:t>
            </a:r>
            <a:endParaRPr sz="60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7BEA8E3C-4307-4812-BE11-AA41D02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005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Higress / Nacos / OTel · positive + negative tests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椭圆 79">
            <a:extLst xmlns:a="http://schemas.openxmlformats.org/drawingml/2006/main">
              <a:ext uri="{FF2B5EF4-FFF2-40B4-BE49-F238E27FC236}">
                <a16:creationId xmlns:a16="http://schemas.microsoft.com/office/drawing/2014/main" id="{E8BA6B38-D142-4359-83F9-CB384D3A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2416A07-0A5A-4929-99E5-F2AB7F9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决赛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944568C6-EEA9-4362-8434-FA7944C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149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Controlled lab adapter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圆角矩形 82">
            <a:extLst xmlns:a="http://schemas.openxmlformats.org/drawingml/2006/main">
              <a:ext uri="{FF2B5EF4-FFF2-40B4-BE49-F238E27FC236}">
                <a16:creationId xmlns:a16="http://schemas.microsoft.com/office/drawing/2014/main" id="{2F3E7107-406B-42AD-A40E-A3A2670B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0537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目标</a:t>
            </a:r>
            <a:endParaRPr sz="60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B1A4C1EC-9383-4193-9B68-69F8DE1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scheduler / GPU · real dataset · real metrics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1BB1512B-4DDF-48CB-A2C1-8DE3664C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62600"/>
            <a:ext cx="5057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64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降级策略：外部平台不可用→local replay；GPU 不可用→synthetic fixture；所有状态保持 honest</a:t>
            </a:r>
            <a:endParaRPr sz="645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315366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619481-4FE0-4EF0-8965-ED74942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团队 · 单一架构所有权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8D4613-7B45-4803-B821-F1CB22CC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我把具身研究经验压成一条可验证的 Agent Infra 生产线</a:t>
            </a:r>
            <a:endParaRPr sz="20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C50F6C7-168C-4A29-BB47-577E384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41C6E2-EAA6-4765-84E2-32EE0AB6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9906000" cy="23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6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吕新科｜北京邮电大学 · 智能科学与技术</a:t>
            </a:r>
            <a:endParaRPr sz="96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AF1FCB02-0471-4BD8-9C20-EECAD73B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24075"/>
            <a:ext cx="5381625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  <p:txBody>
          <a:bodyPr xmlns:a="http://schemas.openxmlformats.org/drawingml/2006/main" lIns="171450" tIns="476250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为什么由我来做</a:t>
            </a:r>
            <a:endParaRPr sz="14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F636A2A3-24A2-4065-BAF4-310706F0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76475"/>
            <a:ext cx="15049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FOUNDER–PROBLEM FIT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A5163239-2B75-4785-9303-439771B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575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具身 / VLA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471FE017-CB4C-4428-974D-B020CD2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718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DAD96BE-4B9A-40DF-80CE-F1B2EBF0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61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ego→HaMeR/MANO→3D pose→VLA / 真机训练链路。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DBECC485-8396-46C2-AA98-8316BD8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052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模型与实验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D852360B-6B27-4646-8B07-4ACBB76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95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956CE9-7B02-42FD-9905-43E5A40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338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OpenTrackVLA、world-model、future feature 与 verifier harness。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DE8AE771-E6B7-4360-9997-01377E5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Agent / 验证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C5A9A1D3-C9DE-437F-B508-F99A49F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672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355DF36-6ACC-4BF2-BF83-8A8761EF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815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Planner ≠ Executor ≠ Verifier；引用、反证、失败重试。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E9C8AB68-4D13-4956-9C80-D9A485D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006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编译 / 系统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5B5A1651-9EC0-4A07-9ACD-CF97A3B4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149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540E08A-552D-4AE8-B011-E0FC767A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292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NaturalFlow compiler、Context DAG、SHA256 cache 与权限检测。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4FF27F42-5EB7-432E-AB9F-CA45908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5038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endParaRPr sz="68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2A246DC2-4EAE-42CC-9B35-F4973C8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400675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171450" tIns="476250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请评委直接 replay，而不是相信我的 PPT</a:t>
            </a:r>
            <a:endParaRPr sz="14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AF1F5416-942F-4382-B65C-414C905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B24AFD4A-167E-4F29-9BB9-65136A8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① 启动 local profile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E242D207-BD12-4260-9BEB-BDD7EEC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1945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START</a:t>
            </a:r>
            <a:endParaRPr sz="6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BF42A59-42EF-4C38-BFAC-AB4DB60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04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make up · 打开 http://localhost:4173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24DFC4B7-0E25-4799-8C56-D6ED6D2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② Reset → Run to next gate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930660E0-8063-4CCE-B547-01109C4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0050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PAUSE</a:t>
            </a:r>
            <a:endParaRPr sz="61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B8C98D3-9E74-4A43-8929-F321752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814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观察 R2 停在 APPROVAL；尝试 bypass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0C960971-095A-411C-ADDF-4850864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③ Approve digest → Replay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0BC7E1B3-1BD8-4C26-8E76-634191D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8155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1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CE5E1A1A-FEC1-4099-8DBF-1B9D05AD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625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检查 7/7 evidence、KEEP、trace 与 candidate Skill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E0775CE7-AC17-458A-8A62-432586E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95925"/>
            <a:ext cx="505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附包：docs/demo-runbook.md · docs/claims-evidence.md · tests/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B4DBAA4F-99A8-47C4-947E-40247621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43575"/>
            <a:ext cx="5057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EgoAgentOS：让 Agent 不只是做实验，而是管理一条可信的 AI Research 生产线。</a:t>
            </a:r>
            <a:endParaRPr sz="66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194665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2026-08-09T12:08:13.4750000Z</dcterms:created>
  <dcterms:modified xsi:type="dcterms:W3CDTF">2026-08-09T12:08:13.4750000Z</dcterms:modified>
</coreProperties>
</file>